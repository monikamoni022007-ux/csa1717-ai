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62" r:id="rId7"/>
    <p:sldId id="263" r:id="rId8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03EF49-4336-49C1-A1B4-4AEC35143B4E}" v="9" dt="2026-07-16T15:12:38.41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214" y="-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ka M" userId="91b727d2bed6c659" providerId="LiveId" clId="{E1C9E743-D478-4B79-91C6-0A23B373188C}"/>
    <pc:docChg chg="undo custSel addSld delSld modSld">
      <pc:chgData name="Monika M" userId="91b727d2bed6c659" providerId="LiveId" clId="{E1C9E743-D478-4B79-91C6-0A23B373188C}" dt="2026-07-16T15:17:21.017" v="176" actId="20577"/>
      <pc:docMkLst>
        <pc:docMk/>
      </pc:docMkLst>
      <pc:sldChg chg="modSp mod">
        <pc:chgData name="Monika M" userId="91b727d2bed6c659" providerId="LiveId" clId="{E1C9E743-D478-4B79-91C6-0A23B373188C}" dt="2026-07-16T15:02:36.936" v="59" actId="20577"/>
        <pc:sldMkLst>
          <pc:docMk/>
          <pc:sldMk cId="0" sldId="256"/>
        </pc:sldMkLst>
        <pc:spChg chg="mod">
          <ac:chgData name="Monika M" userId="91b727d2bed6c659" providerId="LiveId" clId="{E1C9E743-D478-4B79-91C6-0A23B373188C}" dt="2026-07-16T15:01:51.739" v="21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Monika M" userId="91b727d2bed6c659" providerId="LiveId" clId="{E1C9E743-D478-4B79-91C6-0A23B373188C}" dt="2026-07-16T15:02:36.936" v="59" actId="20577"/>
          <ac:spMkLst>
            <pc:docMk/>
            <pc:sldMk cId="0" sldId="256"/>
            <ac:spMk id="7" creationId="{00000000-0000-0000-0000-000000000000}"/>
          </ac:spMkLst>
        </pc:spChg>
      </pc:sldChg>
      <pc:sldChg chg="new del">
        <pc:chgData name="Monika M" userId="91b727d2bed6c659" providerId="LiveId" clId="{E1C9E743-D478-4B79-91C6-0A23B373188C}" dt="2026-07-16T15:03:44.858" v="64" actId="2696"/>
        <pc:sldMkLst>
          <pc:docMk/>
          <pc:sldMk cId="2881261956" sldId="259"/>
        </pc:sldMkLst>
      </pc:sldChg>
      <pc:sldChg chg="new del">
        <pc:chgData name="Monika M" userId="91b727d2bed6c659" providerId="LiveId" clId="{E1C9E743-D478-4B79-91C6-0A23B373188C}" dt="2026-07-16T15:04:48.534" v="76" actId="2696"/>
        <pc:sldMkLst>
          <pc:docMk/>
          <pc:sldMk cId="4250165783" sldId="259"/>
        </pc:sldMkLst>
      </pc:sldChg>
      <pc:sldChg chg="addSp modSp new mod">
        <pc:chgData name="Monika M" userId="91b727d2bed6c659" providerId="LiveId" clId="{E1C9E743-D478-4B79-91C6-0A23B373188C}" dt="2026-07-16T15:14:07.095" v="150" actId="12"/>
        <pc:sldMkLst>
          <pc:docMk/>
          <pc:sldMk cId="1040585546" sldId="260"/>
        </pc:sldMkLst>
        <pc:spChg chg="add mod">
          <ac:chgData name="Monika M" userId="91b727d2bed6c659" providerId="LiveId" clId="{E1C9E743-D478-4B79-91C6-0A23B373188C}" dt="2026-07-16T15:14:07.095" v="150" actId="12"/>
          <ac:spMkLst>
            <pc:docMk/>
            <pc:sldMk cId="1040585546" sldId="260"/>
            <ac:spMk id="3" creationId="{023AB016-735E-AF2E-1634-F96E87552EA6}"/>
          </ac:spMkLst>
        </pc:spChg>
      </pc:sldChg>
      <pc:sldChg chg="new del">
        <pc:chgData name="Monika M" userId="91b727d2bed6c659" providerId="LiveId" clId="{E1C9E743-D478-4B79-91C6-0A23B373188C}" dt="2026-07-16T15:03:47.672" v="65" actId="2696"/>
        <pc:sldMkLst>
          <pc:docMk/>
          <pc:sldMk cId="3593754005" sldId="260"/>
        </pc:sldMkLst>
      </pc:sldChg>
      <pc:sldChg chg="new del">
        <pc:chgData name="Monika M" userId="91b727d2bed6c659" providerId="LiveId" clId="{E1C9E743-D478-4B79-91C6-0A23B373188C}" dt="2026-07-16T15:03:53.803" v="67" actId="2696"/>
        <pc:sldMkLst>
          <pc:docMk/>
          <pc:sldMk cId="145897970" sldId="261"/>
        </pc:sldMkLst>
      </pc:sldChg>
      <pc:sldChg chg="addSp modSp add mod">
        <pc:chgData name="Monika M" userId="91b727d2bed6c659" providerId="LiveId" clId="{E1C9E743-D478-4B79-91C6-0A23B373188C}" dt="2026-07-16T15:12:00.567" v="133" actId="20577"/>
        <pc:sldMkLst>
          <pc:docMk/>
          <pc:sldMk cId="2828908768" sldId="261"/>
        </pc:sldMkLst>
        <pc:spChg chg="add mod">
          <ac:chgData name="Monika M" userId="91b727d2bed6c659" providerId="LiveId" clId="{E1C9E743-D478-4B79-91C6-0A23B373188C}" dt="2026-07-16T15:12:00.567" v="133" actId="20577"/>
          <ac:spMkLst>
            <pc:docMk/>
            <pc:sldMk cId="2828908768" sldId="261"/>
            <ac:spMk id="3" creationId="{C9E436CE-0DA3-CF35-EED6-31D00A427C0C}"/>
          </ac:spMkLst>
        </pc:spChg>
      </pc:sldChg>
      <pc:sldChg chg="addSp add del mod">
        <pc:chgData name="Monika M" userId="91b727d2bed6c659" providerId="LiveId" clId="{E1C9E743-D478-4B79-91C6-0A23B373188C}" dt="2026-07-16T15:04:45.364" v="75" actId="2696"/>
        <pc:sldMkLst>
          <pc:docMk/>
          <pc:sldMk cId="712497546" sldId="262"/>
        </pc:sldMkLst>
        <pc:spChg chg="add">
          <ac:chgData name="Monika M" userId="91b727d2bed6c659" providerId="LiveId" clId="{E1C9E743-D478-4B79-91C6-0A23B373188C}" dt="2026-07-16T15:04:34.803" v="74" actId="22"/>
          <ac:spMkLst>
            <pc:docMk/>
            <pc:sldMk cId="712497546" sldId="262"/>
            <ac:spMk id="3" creationId="{7BE649F6-0CCD-AA9C-263F-E42A5440F92C}"/>
          </ac:spMkLst>
        </pc:spChg>
      </pc:sldChg>
      <pc:sldChg chg="new del">
        <pc:chgData name="Monika M" userId="91b727d2bed6c659" providerId="LiveId" clId="{E1C9E743-D478-4B79-91C6-0A23B373188C}" dt="2026-07-16T15:03:51.040" v="66" actId="2696"/>
        <pc:sldMkLst>
          <pc:docMk/>
          <pc:sldMk cId="2402173045" sldId="262"/>
        </pc:sldMkLst>
      </pc:sldChg>
      <pc:sldChg chg="add del">
        <pc:chgData name="Monika M" userId="91b727d2bed6c659" providerId="LiveId" clId="{E1C9E743-D478-4B79-91C6-0A23B373188C}" dt="2026-07-16T15:04:12.078" v="72"/>
        <pc:sldMkLst>
          <pc:docMk/>
          <pc:sldMk cId="2530915688" sldId="262"/>
        </pc:sldMkLst>
      </pc:sldChg>
      <pc:sldChg chg="addSp modSp new mod">
        <pc:chgData name="Monika M" userId="91b727d2bed6c659" providerId="LiveId" clId="{E1C9E743-D478-4B79-91C6-0A23B373188C}" dt="2026-07-16T15:15:51.266" v="162" actId="20577"/>
        <pc:sldMkLst>
          <pc:docMk/>
          <pc:sldMk cId="4218512901" sldId="262"/>
        </pc:sldMkLst>
        <pc:spChg chg="add mod">
          <ac:chgData name="Monika M" userId="91b727d2bed6c659" providerId="LiveId" clId="{E1C9E743-D478-4B79-91C6-0A23B373188C}" dt="2026-07-16T15:15:51.266" v="162" actId="20577"/>
          <ac:spMkLst>
            <pc:docMk/>
            <pc:sldMk cId="4218512901" sldId="262"/>
            <ac:spMk id="3" creationId="{133C03C8-F482-A82B-3D87-E5CB39679600}"/>
          </ac:spMkLst>
        </pc:spChg>
      </pc:sldChg>
      <pc:sldChg chg="addSp delSp modSp new mod">
        <pc:chgData name="Monika M" userId="91b727d2bed6c659" providerId="LiveId" clId="{E1C9E743-D478-4B79-91C6-0A23B373188C}" dt="2026-07-16T15:17:21.017" v="176" actId="20577"/>
        <pc:sldMkLst>
          <pc:docMk/>
          <pc:sldMk cId="648691383" sldId="263"/>
        </pc:sldMkLst>
        <pc:spChg chg="add del">
          <ac:chgData name="Monika M" userId="91b727d2bed6c659" providerId="LiveId" clId="{E1C9E743-D478-4B79-91C6-0A23B373188C}" dt="2026-07-16T15:14:42.775" v="153" actId="22"/>
          <ac:spMkLst>
            <pc:docMk/>
            <pc:sldMk cId="648691383" sldId="263"/>
            <ac:spMk id="3" creationId="{0D34BE7F-8C63-C7CC-7AFE-EFA4AB8B67BE}"/>
          </ac:spMkLst>
        </pc:spChg>
        <pc:spChg chg="add mod">
          <ac:chgData name="Monika M" userId="91b727d2bed6c659" providerId="LiveId" clId="{E1C9E743-D478-4B79-91C6-0A23B373188C}" dt="2026-07-16T15:17:21.017" v="176" actId="20577"/>
          <ac:spMkLst>
            <pc:docMk/>
            <pc:sldMk cId="648691383" sldId="263"/>
            <ac:spMk id="5" creationId="{A4B58B6D-0559-C67B-549D-122F8BA919E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9402" y="886713"/>
            <a:ext cx="2466340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10"/>
              </a:lnSpc>
              <a:spcBef>
                <a:spcPts val="100"/>
              </a:spcBef>
            </a:pPr>
            <a:r>
              <a:rPr sz="1700" b="1" dirty="0">
                <a:latin typeface="Times New Roman"/>
                <a:cs typeface="Times New Roman"/>
              </a:rPr>
              <a:t>SIMATS</a:t>
            </a:r>
            <a:r>
              <a:rPr sz="1700" b="1" spc="-55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ENGINEERING</a:t>
            </a:r>
            <a:endParaRPr sz="1700">
              <a:latin typeface="Times New Roman"/>
              <a:cs typeface="Times New Roman"/>
            </a:endParaRPr>
          </a:p>
          <a:p>
            <a:pPr marR="46355" algn="ctr">
              <a:lnSpc>
                <a:spcPts val="1650"/>
              </a:lnSpc>
            </a:pPr>
            <a:r>
              <a:rPr sz="1400" b="1" dirty="0">
                <a:latin typeface="Times New Roman"/>
                <a:cs typeface="Times New Roman"/>
              </a:rPr>
              <a:t>ASSESSMENT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TOOL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50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1842261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COURSE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NAME: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73935" y="1842261"/>
            <a:ext cx="323596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CSA07</a:t>
            </a:r>
            <a:r>
              <a:rPr lang="en-IN" sz="1200" b="1" spc="-20" dirty="0">
                <a:latin typeface="Arial"/>
                <a:cs typeface="Arial"/>
              </a:rPr>
              <a:t>04</a:t>
            </a:r>
            <a:r>
              <a:rPr sz="1200" b="1" dirty="0">
                <a:latin typeface="Arial"/>
                <a:cs typeface="Arial"/>
              </a:rPr>
              <a:t>: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Computer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Networks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2703321"/>
            <a:ext cx="5603240" cy="1085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COURSE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OUTCOME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COVERED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380"/>
              </a:lnSpc>
              <a:spcBef>
                <a:spcPts val="5"/>
              </a:spcBef>
            </a:pPr>
            <a:r>
              <a:rPr sz="1200" b="1" i="1" dirty="0">
                <a:latin typeface="Arial"/>
                <a:cs typeface="Arial"/>
              </a:rPr>
              <a:t>CO1:</a:t>
            </a:r>
            <a:r>
              <a:rPr sz="1200" b="1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Apply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the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functions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of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OSI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layer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in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enabling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reliable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data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transmission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across networks.</a:t>
            </a:r>
            <a:r>
              <a:rPr sz="1200" i="1" spc="-4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(BL2,</a:t>
            </a:r>
            <a:r>
              <a:rPr sz="1000" i="1" spc="15" dirty="0">
                <a:latin typeface="Arial"/>
                <a:cs typeface="Arial"/>
              </a:rPr>
              <a:t> </a:t>
            </a:r>
            <a:r>
              <a:rPr sz="1000" i="1" spc="-20" dirty="0">
                <a:latin typeface="Arial"/>
                <a:cs typeface="Arial"/>
              </a:rPr>
              <a:t>BL3)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200" i="1" dirty="0">
                <a:latin typeface="Arial"/>
                <a:cs typeface="Arial"/>
              </a:rPr>
              <a:t>Assessment</a:t>
            </a:r>
            <a:r>
              <a:rPr sz="1200" i="1" spc="-4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Tool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Weightage:</a:t>
            </a:r>
            <a:r>
              <a:rPr sz="1200" i="1" spc="-40" dirty="0">
                <a:latin typeface="Arial"/>
                <a:cs typeface="Arial"/>
              </a:rPr>
              <a:t> </a:t>
            </a:r>
            <a:r>
              <a:rPr sz="1200" i="1" spc="-25" dirty="0">
                <a:latin typeface="Arial"/>
                <a:cs typeface="Arial"/>
              </a:rPr>
              <a:t>30%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01823" y="4442586"/>
            <a:ext cx="1522730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Annexure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A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200" b="1" dirty="0">
                <a:latin typeface="Arial"/>
                <a:cs typeface="Arial"/>
              </a:rPr>
              <a:t>CONCEPT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MAPPING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5652896"/>
            <a:ext cx="5787390" cy="16106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Times New Roman"/>
                <a:cs typeface="Times New Roman"/>
              </a:rPr>
              <a:t>Code</a:t>
            </a:r>
            <a:r>
              <a:rPr sz="1200" b="1" i="1" spc="-20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of</a:t>
            </a:r>
            <a:r>
              <a:rPr sz="1200" b="1" i="1" spc="-15" dirty="0">
                <a:latin typeface="Times New Roman"/>
                <a:cs typeface="Times New Roman"/>
              </a:rPr>
              <a:t> </a:t>
            </a:r>
            <a:r>
              <a:rPr sz="1200" b="1" i="1" spc="-10" dirty="0">
                <a:latin typeface="Times New Roman"/>
                <a:cs typeface="Times New Roman"/>
              </a:rPr>
              <a:t>Conduct: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tabLst>
                <a:tab pos="1650364" algn="l"/>
              </a:tabLst>
            </a:pPr>
            <a:r>
              <a:rPr sz="1200" i="1" dirty="0">
                <a:latin typeface="Times New Roman"/>
                <a:cs typeface="Times New Roman"/>
              </a:rPr>
              <a:t>I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lang="en-IN" sz="1200" i="1" spc="-15" dirty="0">
                <a:latin typeface="Times New Roman"/>
                <a:cs typeface="Times New Roman"/>
              </a:rPr>
              <a:t> </a:t>
            </a:r>
            <a:r>
              <a:rPr lang="en-IN" sz="1200" b="1" i="1" spc="-15" dirty="0" err="1">
                <a:latin typeface="Times New Roman"/>
                <a:cs typeface="Times New Roman"/>
              </a:rPr>
              <a:t>M.Monika</a:t>
            </a:r>
            <a:r>
              <a:rPr lang="en-IN" sz="1200" b="1" i="1" spc="-15" dirty="0">
                <a:latin typeface="Times New Roman"/>
                <a:cs typeface="Times New Roman"/>
              </a:rPr>
              <a:t> / 192521435</a:t>
            </a:r>
            <a:r>
              <a:rPr sz="12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i="1" spc="-10" dirty="0">
                <a:latin typeface="Times New Roman"/>
                <a:cs typeface="Times New Roman"/>
              </a:rPr>
              <a:t>(Name</a:t>
            </a:r>
            <a:r>
              <a:rPr sz="1200" i="1" spc="-6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/</a:t>
            </a:r>
            <a:r>
              <a:rPr sz="1200" i="1" spc="-5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Reg</a:t>
            </a:r>
            <a:r>
              <a:rPr sz="1200" i="1" spc="-5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No)</a:t>
            </a:r>
            <a:r>
              <a:rPr sz="1200" i="1" spc="-5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certify</a:t>
            </a:r>
            <a:r>
              <a:rPr sz="1200" i="1" spc="-5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that</a:t>
            </a:r>
            <a:r>
              <a:rPr sz="1200" i="1" spc="-5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this</a:t>
            </a:r>
            <a:r>
              <a:rPr sz="1200" i="1" spc="-6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submission</a:t>
            </a:r>
            <a:r>
              <a:rPr sz="1200" i="1" spc="-5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is</a:t>
            </a:r>
            <a:r>
              <a:rPr sz="1200" i="1" spc="-6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my</a:t>
            </a:r>
            <a:r>
              <a:rPr sz="1200" i="1" spc="-5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original</a:t>
            </a:r>
            <a:r>
              <a:rPr sz="1200" i="1" spc="-5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work</a:t>
            </a:r>
            <a:r>
              <a:rPr sz="1200" i="1" spc="-55" dirty="0">
                <a:latin typeface="Times New Roman"/>
                <a:cs typeface="Times New Roman"/>
              </a:rPr>
              <a:t> </a:t>
            </a:r>
            <a:r>
              <a:rPr sz="1200" i="1" spc="-25" dirty="0">
                <a:latin typeface="Times New Roman"/>
                <a:cs typeface="Times New Roman"/>
              </a:rPr>
              <a:t>and </a:t>
            </a:r>
            <a:r>
              <a:rPr sz="1200" i="1" dirty="0">
                <a:latin typeface="Times New Roman"/>
                <a:cs typeface="Times New Roman"/>
              </a:rPr>
              <a:t>that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have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adhered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guidelines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specified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this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assessment.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ts val="1345"/>
              </a:lnSpc>
            </a:pPr>
            <a:r>
              <a:rPr sz="1200" i="1" dirty="0">
                <a:latin typeface="Times New Roman"/>
                <a:cs typeface="Times New Roman"/>
              </a:rPr>
              <a:t>I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understand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that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any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violation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academic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integrity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rules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will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result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disciplinary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action.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200" b="1" i="1" dirty="0">
                <a:latin typeface="Times New Roman"/>
                <a:cs typeface="Times New Roman"/>
              </a:rPr>
              <a:t>Signature</a:t>
            </a:r>
            <a:r>
              <a:rPr sz="1200" b="1" i="1" spc="-25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of</a:t>
            </a:r>
            <a:r>
              <a:rPr sz="1200" b="1" i="1" spc="-20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the</a:t>
            </a:r>
            <a:r>
              <a:rPr sz="1200" b="1" i="1" spc="-20" dirty="0">
                <a:latin typeface="Times New Roman"/>
                <a:cs typeface="Times New Roman"/>
              </a:rPr>
              <a:t> </a:t>
            </a:r>
            <a:r>
              <a:rPr sz="1200" b="1" i="1" spc="-10" dirty="0">
                <a:latin typeface="Times New Roman"/>
                <a:cs typeface="Times New Roman"/>
              </a:rPr>
              <a:t>student:</a:t>
            </a:r>
            <a:endParaRPr lang="en-IN" sz="1200" b="1" i="1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lang="en-IN" sz="1200" b="1" i="1" spc="-10" dirty="0">
                <a:latin typeface="Times New Roman"/>
                <a:cs typeface="Times New Roman"/>
              </a:rPr>
              <a:t>Monika .M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4400" y="2523362"/>
            <a:ext cx="5746115" cy="26670"/>
          </a:xfrm>
          <a:custGeom>
            <a:avLst/>
            <a:gdLst/>
            <a:ahLst/>
            <a:cxnLst/>
            <a:rect l="l" t="t" r="r" b="b"/>
            <a:pathLst>
              <a:path w="5746115" h="26669">
                <a:moveTo>
                  <a:pt x="0" y="26670"/>
                </a:moveTo>
                <a:lnTo>
                  <a:pt x="5746115" y="26670"/>
                </a:lnTo>
                <a:lnTo>
                  <a:pt x="5746115" y="0"/>
                </a:lnTo>
                <a:lnTo>
                  <a:pt x="0" y="0"/>
                </a:lnTo>
                <a:lnTo>
                  <a:pt x="0" y="266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4400" y="4085970"/>
            <a:ext cx="5746115" cy="26670"/>
          </a:xfrm>
          <a:custGeom>
            <a:avLst/>
            <a:gdLst/>
            <a:ahLst/>
            <a:cxnLst/>
            <a:rect l="l" t="t" r="r" b="b"/>
            <a:pathLst>
              <a:path w="5746115" h="26670">
                <a:moveTo>
                  <a:pt x="0" y="26670"/>
                </a:moveTo>
                <a:lnTo>
                  <a:pt x="5746115" y="26670"/>
                </a:lnTo>
                <a:lnTo>
                  <a:pt x="5746115" y="0"/>
                </a:lnTo>
                <a:lnTo>
                  <a:pt x="0" y="0"/>
                </a:lnTo>
                <a:lnTo>
                  <a:pt x="0" y="266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14400" y="5473319"/>
            <a:ext cx="5746115" cy="26670"/>
          </a:xfrm>
          <a:custGeom>
            <a:avLst/>
            <a:gdLst/>
            <a:ahLst/>
            <a:cxnLst/>
            <a:rect l="l" t="t" r="r" b="b"/>
            <a:pathLst>
              <a:path w="5746115" h="26670">
                <a:moveTo>
                  <a:pt x="0" y="26670"/>
                </a:moveTo>
                <a:lnTo>
                  <a:pt x="5746115" y="26670"/>
                </a:lnTo>
                <a:lnTo>
                  <a:pt x="5746115" y="0"/>
                </a:lnTo>
                <a:lnTo>
                  <a:pt x="0" y="0"/>
                </a:lnTo>
                <a:lnTo>
                  <a:pt x="0" y="266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809"/>
            <a:ext cx="5784215" cy="4677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8100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Annexure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A</a:t>
            </a:r>
            <a:endParaRPr sz="1200">
              <a:latin typeface="Arial MT"/>
              <a:cs typeface="Arial MT"/>
            </a:endParaRPr>
          </a:p>
          <a:p>
            <a:pPr marR="269240" algn="ctr">
              <a:lnSpc>
                <a:spcPct val="100000"/>
              </a:lnSpc>
              <a:spcBef>
                <a:spcPts val="1320"/>
              </a:spcBef>
            </a:pPr>
            <a:r>
              <a:rPr sz="1200" b="1" dirty="0">
                <a:latin typeface="Arial"/>
                <a:cs typeface="Arial"/>
              </a:rPr>
              <a:t>CONCEPT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MAPPING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Arial"/>
              <a:cs typeface="Arial"/>
            </a:endParaRPr>
          </a:p>
          <a:p>
            <a:pPr marL="182245" indent="-169545" algn="just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82245" algn="l"/>
              </a:tabLst>
            </a:pPr>
            <a:r>
              <a:rPr sz="1200" dirty="0">
                <a:latin typeface="Arial MT"/>
                <a:cs typeface="Arial MT"/>
              </a:rPr>
              <a:t>A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partially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completed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concept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map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given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below: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15"/>
              </a:spcBef>
              <a:buFont typeface="Arial MT"/>
              <a:buAutoNum type="arabicPeriod"/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594610" algn="l"/>
                <a:tab pos="4973955" algn="l"/>
              </a:tabLst>
            </a:pPr>
            <a:r>
              <a:rPr sz="1200" spc="-10" dirty="0">
                <a:latin typeface="Arial MT"/>
                <a:cs typeface="Arial MT"/>
              </a:rPr>
              <a:t>Application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→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Presentation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→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dirty="0">
                <a:latin typeface="Arial MT"/>
                <a:cs typeface="Arial MT"/>
              </a:rPr>
              <a:t>→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Transport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→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Network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→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dirty="0">
                <a:latin typeface="Arial MT"/>
                <a:cs typeface="Arial MT"/>
              </a:rPr>
              <a:t>→</a:t>
            </a:r>
            <a:r>
              <a:rPr sz="1200" spc="-8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Physical.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200">
              <a:latin typeface="Arial MT"/>
              <a:cs typeface="Arial MT"/>
            </a:endParaRPr>
          </a:p>
          <a:p>
            <a:pPr marL="12700" marR="8255">
              <a:lnSpc>
                <a:spcPct val="144400"/>
              </a:lnSpc>
            </a:pPr>
            <a:r>
              <a:rPr sz="1200" dirty="0">
                <a:latin typeface="Arial MT"/>
                <a:cs typeface="Arial MT"/>
              </a:rPr>
              <a:t>Analyze</a:t>
            </a:r>
            <a:r>
              <a:rPr sz="1200" spc="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8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missing</a:t>
            </a:r>
            <a:r>
              <a:rPr sz="1200" spc="9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layers</a:t>
            </a:r>
            <a:r>
              <a:rPr sz="1200" spc="9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9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explain</a:t>
            </a:r>
            <a:r>
              <a:rPr sz="1200" spc="8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how</a:t>
            </a:r>
            <a:r>
              <a:rPr sz="1200" spc="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their</a:t>
            </a:r>
            <a:r>
              <a:rPr sz="1200" spc="8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functions</a:t>
            </a:r>
            <a:r>
              <a:rPr sz="1200" spc="8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are</a:t>
            </a:r>
            <a:r>
              <a:rPr sz="1200" spc="8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essential</a:t>
            </a:r>
            <a:r>
              <a:rPr sz="1200" spc="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9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reliable communication.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200">
              <a:latin typeface="Arial MT"/>
              <a:cs typeface="Arial MT"/>
            </a:endParaRPr>
          </a:p>
          <a:p>
            <a:pPr marL="12700" marR="5080" indent="162560" algn="just">
              <a:lnSpc>
                <a:spcPct val="143700"/>
              </a:lnSpc>
              <a:buAutoNum type="arabicPeriod" startAt="2"/>
              <a:tabLst>
                <a:tab pos="175260" algn="l"/>
              </a:tabLst>
            </a:pPr>
            <a:r>
              <a:rPr sz="1200" spc="-10" dirty="0">
                <a:latin typeface="Arial MT"/>
                <a:cs typeface="Arial MT"/>
              </a:rPr>
              <a:t>Construct</a:t>
            </a:r>
            <a:r>
              <a:rPr sz="1200" spc="-6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concept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map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linking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units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(Segment,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Packet,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Frame,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Bits)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with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their </a:t>
            </a:r>
            <a:r>
              <a:rPr sz="1200" dirty="0">
                <a:latin typeface="Arial MT"/>
                <a:cs typeface="Arial MT"/>
              </a:rPr>
              <a:t>respective</a:t>
            </a:r>
            <a:r>
              <a:rPr sz="1200" spc="4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OSI</a:t>
            </a:r>
            <a:r>
              <a:rPr sz="1200" spc="4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layers</a:t>
            </a:r>
            <a:r>
              <a:rPr sz="1200" spc="4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4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analyze</a:t>
            </a:r>
            <a:r>
              <a:rPr sz="1200" spc="459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how</a:t>
            </a:r>
            <a:r>
              <a:rPr sz="1200" spc="4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transformation</a:t>
            </a:r>
            <a:r>
              <a:rPr sz="1200" spc="4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459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</a:t>
            </a:r>
            <a:r>
              <a:rPr sz="1200" spc="4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units</a:t>
            </a:r>
            <a:r>
              <a:rPr sz="1200" spc="45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supports transmission.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20"/>
              </a:spcBef>
              <a:buFont typeface="Arial MT"/>
              <a:buAutoNum type="arabicPeriod" startAt="2"/>
            </a:pPr>
            <a:endParaRPr sz="1200">
              <a:latin typeface="Arial MT"/>
              <a:cs typeface="Arial MT"/>
            </a:endParaRPr>
          </a:p>
          <a:p>
            <a:pPr marL="139700" indent="-139700">
              <a:lnSpc>
                <a:spcPct val="100000"/>
              </a:lnSpc>
              <a:buAutoNum type="arabicPeriod" startAt="2"/>
              <a:tabLst>
                <a:tab pos="139700" algn="l"/>
              </a:tabLst>
            </a:pPr>
            <a:r>
              <a:rPr sz="1200" dirty="0">
                <a:latin typeface="Arial MT"/>
                <a:cs typeface="Arial MT"/>
              </a:rPr>
              <a:t>Given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concept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map:</a:t>
            </a:r>
            <a:endParaRPr sz="1200">
              <a:latin typeface="Arial MT"/>
              <a:cs typeface="Arial MT"/>
            </a:endParaRPr>
          </a:p>
          <a:p>
            <a:pPr marL="12700" marR="2951480">
              <a:lnSpc>
                <a:spcPts val="2080"/>
              </a:lnSpc>
              <a:spcBef>
                <a:spcPts val="160"/>
              </a:spcBef>
            </a:pPr>
            <a:r>
              <a:rPr sz="1200" spc="-10" dirty="0">
                <a:latin typeface="Arial MT"/>
                <a:cs typeface="Arial MT"/>
              </a:rPr>
              <a:t>DataLink→MACAddress→LocalDelivery </a:t>
            </a:r>
            <a:r>
              <a:rPr sz="1200" dirty="0">
                <a:latin typeface="Arial MT"/>
                <a:cs typeface="Arial MT"/>
              </a:rPr>
              <a:t>Network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→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IP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Address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→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Global</a:t>
            </a:r>
            <a:r>
              <a:rPr sz="1200" spc="-10" dirty="0">
                <a:latin typeface="Arial MT"/>
                <a:cs typeface="Arial MT"/>
              </a:rPr>
              <a:t> Delivery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200" dirty="0">
                <a:latin typeface="Arial MT"/>
                <a:cs typeface="Arial MT"/>
              </a:rPr>
              <a:t>Explain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how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these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relationships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ensure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complete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delivery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across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networks.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6071997"/>
            <a:ext cx="5384165" cy="160210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latin typeface="Arial MT"/>
                <a:cs typeface="Arial MT"/>
              </a:rPr>
              <a:t>4.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concept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map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shows: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Arial MT"/>
                <a:cs typeface="Arial MT"/>
              </a:rPr>
              <a:t>ErrorControl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Arial MT"/>
                <a:cs typeface="Arial MT"/>
              </a:rPr>
              <a:t>→DataLinkLayer→ErrorDetection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200" dirty="0">
                <a:latin typeface="Arial MT"/>
                <a:cs typeface="Arial MT"/>
              </a:rPr>
              <a:t>→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Transport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Layer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→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Error</a:t>
            </a:r>
            <a:r>
              <a:rPr sz="1200" spc="-10" dirty="0">
                <a:latin typeface="Arial MT"/>
                <a:cs typeface="Arial MT"/>
              </a:rPr>
              <a:t> Correction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43300"/>
              </a:lnSpc>
              <a:spcBef>
                <a:spcPts val="10"/>
              </a:spcBef>
            </a:pPr>
            <a:r>
              <a:rPr sz="1200" dirty="0">
                <a:latin typeface="Arial MT"/>
                <a:cs typeface="Arial MT"/>
              </a:rPr>
              <a:t>Analyze</a:t>
            </a:r>
            <a:r>
              <a:rPr sz="1200" spc="4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how</a:t>
            </a:r>
            <a:r>
              <a:rPr sz="1200" spc="47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4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interaction</a:t>
            </a:r>
            <a:r>
              <a:rPr sz="1200" spc="47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between</a:t>
            </a:r>
            <a:r>
              <a:rPr sz="1200" spc="4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these</a:t>
            </a:r>
            <a:r>
              <a:rPr sz="1200" spc="4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layers</a:t>
            </a:r>
            <a:r>
              <a:rPr sz="1200" spc="47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improves</a:t>
            </a:r>
            <a:r>
              <a:rPr sz="1200" spc="459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reliability</a:t>
            </a:r>
            <a:r>
              <a:rPr sz="1200" spc="47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in </a:t>
            </a:r>
            <a:r>
              <a:rPr sz="1200" spc="-10" dirty="0">
                <a:latin typeface="Arial MT"/>
                <a:cs typeface="Arial MT"/>
              </a:rPr>
              <a:t>transmission.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64523" y="7203185"/>
            <a:ext cx="320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 MT"/>
                <a:cs typeface="Arial MT"/>
              </a:rPr>
              <a:t>data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7910321"/>
            <a:ext cx="5787390" cy="164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9545">
              <a:lnSpc>
                <a:spcPct val="144200"/>
              </a:lnSpc>
              <a:spcBef>
                <a:spcPts val="100"/>
              </a:spcBef>
              <a:buAutoNum type="arabicPeriod" startAt="5"/>
              <a:tabLst>
                <a:tab pos="182245" algn="l"/>
              </a:tabLst>
            </a:pPr>
            <a:r>
              <a:rPr sz="1200" dirty="0">
                <a:latin typeface="Arial MT"/>
                <a:cs typeface="Arial MT"/>
              </a:rPr>
              <a:t>Develop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concept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map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web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browsing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using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OSI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layers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analyze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how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failure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one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layer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affects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entire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communication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process.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20"/>
              </a:spcBef>
              <a:buFont typeface="Arial MT"/>
              <a:buAutoNum type="arabicPeriod" startAt="5"/>
            </a:pPr>
            <a:endParaRPr sz="1200">
              <a:latin typeface="Arial MT"/>
              <a:cs typeface="Arial MT"/>
            </a:endParaRPr>
          </a:p>
          <a:p>
            <a:pPr marL="182245" indent="-169545">
              <a:lnSpc>
                <a:spcPct val="100000"/>
              </a:lnSpc>
              <a:buAutoNum type="arabicPeriod" startAt="5"/>
              <a:tabLst>
                <a:tab pos="182245" algn="l"/>
              </a:tabLst>
            </a:pPr>
            <a:r>
              <a:rPr sz="1200" dirty="0">
                <a:latin typeface="Arial MT"/>
                <a:cs typeface="Arial MT"/>
              </a:rPr>
              <a:t>A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network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issue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represented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concept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map: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200" dirty="0">
                <a:latin typeface="Arial MT"/>
                <a:cs typeface="Arial MT"/>
              </a:rPr>
              <a:t>Physical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Segoe UI Symbol"/>
                <a:cs typeface="Segoe UI Symbol"/>
              </a:rPr>
              <a:t>✔</a:t>
            </a:r>
            <a:r>
              <a:rPr sz="1200" spc="-10" dirty="0">
                <a:latin typeface="Segoe UI Symbol"/>
                <a:cs typeface="Segoe UI Symbol"/>
              </a:rPr>
              <a:t> </a:t>
            </a:r>
            <a:r>
              <a:rPr sz="1200" dirty="0">
                <a:latin typeface="Arial MT"/>
                <a:cs typeface="Arial MT"/>
              </a:rPr>
              <a:t>→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Link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Segoe UI Symbol"/>
                <a:cs typeface="Segoe UI Symbol"/>
              </a:rPr>
              <a:t>✔</a:t>
            </a:r>
            <a:r>
              <a:rPr sz="1200" spc="-10" dirty="0">
                <a:latin typeface="Segoe UI Symbol"/>
                <a:cs typeface="Segoe UI Symbol"/>
              </a:rPr>
              <a:t> </a:t>
            </a:r>
            <a:r>
              <a:rPr sz="1200" dirty="0">
                <a:latin typeface="Arial MT"/>
                <a:cs typeface="Arial MT"/>
              </a:rPr>
              <a:t>→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Network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Segoe UI Symbol"/>
                <a:cs typeface="Segoe UI Symbol"/>
              </a:rPr>
              <a:t>✖</a:t>
            </a:r>
            <a:r>
              <a:rPr sz="1200" spc="-20" dirty="0">
                <a:latin typeface="Segoe UI Symbol"/>
                <a:cs typeface="Segoe UI Symbol"/>
              </a:rPr>
              <a:t> </a:t>
            </a:r>
            <a:r>
              <a:rPr sz="1200" dirty="0">
                <a:latin typeface="Arial MT"/>
                <a:cs typeface="Arial MT"/>
              </a:rPr>
              <a:t>→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Transport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Segoe UI Symbol"/>
                <a:cs typeface="Segoe UI Symbol"/>
              </a:rPr>
              <a:t>✖</a:t>
            </a:r>
            <a:r>
              <a:rPr sz="1200" spc="-5" dirty="0">
                <a:latin typeface="Segoe UI Symbol"/>
                <a:cs typeface="Segoe UI Symbol"/>
              </a:rPr>
              <a:t> </a:t>
            </a:r>
            <a:r>
              <a:rPr sz="1200" dirty="0">
                <a:latin typeface="Arial MT"/>
                <a:cs typeface="Arial MT"/>
              </a:rPr>
              <a:t>→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Application </a:t>
            </a:r>
            <a:r>
              <a:rPr sz="1200" spc="-50" dirty="0">
                <a:latin typeface="Segoe UI Symbol"/>
                <a:cs typeface="Segoe UI Symbol"/>
              </a:rPr>
              <a:t>✖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200" dirty="0">
                <a:latin typeface="Arial MT"/>
                <a:cs typeface="Arial MT"/>
              </a:rPr>
              <a:t>Analyze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problem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explain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how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concept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map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helps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troubleshooting.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154938"/>
            <a:ext cx="2227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RUBRICS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FOR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CALCULATION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1702561"/>
          <a:ext cx="6078218" cy="6113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5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3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3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78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23431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Criteria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27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0" marR="24765" indent="-219710">
                        <a:lnSpc>
                          <a:spcPts val="1380"/>
                        </a:lnSpc>
                        <a:spcBef>
                          <a:spcPts val="13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Weightage 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(%)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1454" marR="201930" indent="175260">
                        <a:lnSpc>
                          <a:spcPts val="1380"/>
                        </a:lnSpc>
                        <a:spcBef>
                          <a:spcPts val="13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4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(Exemplary)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0" marR="180975" indent="138430">
                        <a:lnSpc>
                          <a:spcPts val="1380"/>
                        </a:lnSpc>
                        <a:spcBef>
                          <a:spcPts val="13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3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(Proficient)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90170" indent="179705">
                        <a:lnSpc>
                          <a:spcPts val="1380"/>
                        </a:lnSpc>
                        <a:spcBef>
                          <a:spcPts val="13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2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(Developing)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360" marR="80645" indent="146050">
                        <a:lnSpc>
                          <a:spcPts val="1380"/>
                        </a:lnSpc>
                        <a:spcBef>
                          <a:spcPts val="13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(Beginning)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2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5880" marR="51435" indent="170180">
                        <a:lnSpc>
                          <a:spcPts val="1380"/>
                        </a:lnSpc>
                        <a:spcBef>
                          <a:spcPts val="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Concept Identification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20%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marR="7620" indent="-635" algn="ctr">
                        <a:lnSpc>
                          <a:spcPct val="95900"/>
                        </a:lnSpc>
                        <a:spcBef>
                          <a:spcPts val="7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Accurately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identifies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all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relevant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OSI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layers,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concepts,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relationships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1435" marR="44450" indent="50165" algn="just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Identifies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most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concepts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minor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omissions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 marR="37465" indent="-635" algn="ctr">
                        <a:lnSpc>
                          <a:spcPts val="1380"/>
                        </a:lnSpc>
                        <a:spcBef>
                          <a:spcPts val="80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Identifies limited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concepts;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some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inaccuracies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97790" indent="1270" algn="ctr">
                        <a:lnSpc>
                          <a:spcPts val="1380"/>
                        </a:lnSpc>
                        <a:spcBef>
                          <a:spcPts val="80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Unable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identify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key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concepts correctly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3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84150" marR="177800" indent="42545" algn="just">
                        <a:lnSpc>
                          <a:spcPts val="138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Concept Mapping Structure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25%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7785" marR="50165" algn="ctr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Constructs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clear,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logical,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well-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organized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concept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map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proper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hierarchy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connections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8575" marR="22860" indent="-635" algn="ctr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Concept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map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mostly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clear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minor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structural issues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0480" marR="22225" indent="-635" algn="ctr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Concept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map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lacks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clarity,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organization,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proper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flow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0014" marR="113664" indent="-1905" algn="ctr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clear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structure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incorrect mapping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0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5880" marR="48895" indent="99060">
                        <a:lnSpc>
                          <a:spcPts val="138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Linking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Relationships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20%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 marR="41910" algn="ctr">
                        <a:lnSpc>
                          <a:spcPct val="95900"/>
                        </a:lnSpc>
                        <a:spcBef>
                          <a:spcPts val="7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Clearly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establishes correct relationships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layers,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functions,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processes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71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4130" marR="19685" indent="-635" algn="ctr">
                        <a:lnSpc>
                          <a:spcPct val="959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Relationships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are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mostly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correct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minor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errors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7305" marR="22225" indent="635" algn="ctr">
                        <a:lnSpc>
                          <a:spcPct val="959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partially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correct relationships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8740" marR="74295" indent="-1270" algn="ctr">
                        <a:lnSpc>
                          <a:spcPct val="959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Incorrect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missing relationships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5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22250" marR="25400" indent="-189230">
                        <a:lnSpc>
                          <a:spcPts val="138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Application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 &amp;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Analysis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20%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 marR="8890" indent="-1270" algn="ctr">
                        <a:lnSpc>
                          <a:spcPts val="1380"/>
                        </a:lnSpc>
                        <a:spcBef>
                          <a:spcPts val="9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Effectively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applies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concepts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explain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processes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(e.g.,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encapsulation,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error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control)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strong reasoning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5085" marR="6350" indent="-33655" algn="just">
                        <a:lnSpc>
                          <a:spcPts val="138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application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correct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lacks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depth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analysis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7780" marR="12700" indent="2540" algn="ctr">
                        <a:lnSpc>
                          <a:spcPts val="138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Basic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application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weak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explanation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335" marR="9525" indent="1905" algn="ctr">
                        <a:lnSpc>
                          <a:spcPts val="138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Unable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apply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concepts correctly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7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64795" marR="8890" indent="-248920">
                        <a:lnSpc>
                          <a:spcPts val="138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Explanation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Clarity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15%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61594" indent="635" algn="ctr">
                        <a:lnSpc>
                          <a:spcPct val="95900"/>
                        </a:lnSpc>
                        <a:spcBef>
                          <a:spcPts val="8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clear,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concise,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well-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structured explanation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supporting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concept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map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2230" marR="56515" indent="55880" algn="just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Explanation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understandable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minor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gaps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3025" marR="67945" algn="ctr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Explanation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unclear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incomplete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 marR="107950" indent="13335" algn="just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clear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meaningful explanation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E436CE-0DA3-CF35-EED6-31D00A427C0C}"/>
              </a:ext>
            </a:extLst>
          </p:cNvPr>
          <p:cNvSpPr txBox="1"/>
          <p:nvPr/>
        </p:nvSpPr>
        <p:spPr>
          <a:xfrm>
            <a:off x="425450" y="317500"/>
            <a:ext cx="6781800" cy="11572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Complete the OSI Concept Map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Concept Map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→ Presentation → Session → Transport → Network → Data Link → Physical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network services to users (HTTP, FTP, SMTP). 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data translation, encryption, and compression. 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Layer (Missing Layer):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Establishes, manages, and terminates communication sessions between devices. 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Layer: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reliable end-to-end delivery, segmentation, flow control, and error recovery. 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Layer: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logical addressing (IP) and routing. 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Link Layer (Missing Layer):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Frames data, performs error detection, and uses MAC addresses for local delivery. 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Layer: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Transmits bits through cables or wireless media.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performs a specific function. Together, they ensure secure, reliable, and efficient communication between devices.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/>
              <a:t>2. Concept Map for Data Units</a:t>
            </a:r>
          </a:p>
          <a:p>
            <a:endParaRPr lang="en-IN" sz="1400" b="1" dirty="0"/>
          </a:p>
          <a:p>
            <a:pPr algn="ctr"/>
            <a:r>
              <a:rPr lang="en-IN" sz="1400" b="1" dirty="0"/>
              <a:t>Concept Map</a:t>
            </a:r>
          </a:p>
          <a:p>
            <a:endParaRPr lang="en-IN" sz="1400" b="1" dirty="0"/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→ Segment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→ Packet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Link → Frame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→ Bits</a:t>
            </a:r>
          </a:p>
          <a:p>
            <a:pPr algn="ctr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400" b="1" dirty="0"/>
              <a:t>Analysis</a:t>
            </a:r>
          </a:p>
          <a:p>
            <a:pPr>
              <a:lnSpc>
                <a:spcPct val="150000"/>
              </a:lnSpc>
            </a:pPr>
            <a:r>
              <a:rPr lang="en-IN" sz="1400" dirty="0"/>
              <a:t>The </a:t>
            </a:r>
            <a:r>
              <a:rPr lang="en-IN" sz="1400" b="1" dirty="0"/>
              <a:t>Transport Layer</a:t>
            </a:r>
            <a:r>
              <a:rPr lang="en-IN" sz="1400" dirty="0"/>
              <a:t> divides data into </a:t>
            </a:r>
            <a:r>
              <a:rPr lang="en-IN" sz="1400" b="1" dirty="0"/>
              <a:t>segments</a:t>
            </a:r>
            <a:r>
              <a:rPr lang="en-IN" sz="1400" dirty="0"/>
              <a:t>. </a:t>
            </a:r>
          </a:p>
          <a:p>
            <a:pPr>
              <a:lnSpc>
                <a:spcPct val="150000"/>
              </a:lnSpc>
            </a:pPr>
            <a:r>
              <a:rPr lang="en-IN" sz="1400" dirty="0"/>
              <a:t>The </a:t>
            </a:r>
            <a:r>
              <a:rPr lang="en-IN" sz="1400" b="1" dirty="0"/>
              <a:t>Network Layer</a:t>
            </a:r>
            <a:r>
              <a:rPr lang="en-IN" sz="1400" dirty="0"/>
              <a:t> adds an IP header, creating </a:t>
            </a:r>
            <a:r>
              <a:rPr lang="en-IN" sz="1400" b="1" dirty="0"/>
              <a:t>packets</a:t>
            </a:r>
            <a:r>
              <a:rPr lang="en-IN" sz="1400" dirty="0"/>
              <a:t>. </a:t>
            </a:r>
          </a:p>
          <a:p>
            <a:pPr>
              <a:lnSpc>
                <a:spcPct val="150000"/>
              </a:lnSpc>
            </a:pPr>
            <a:r>
              <a:rPr lang="en-IN" sz="1400" dirty="0"/>
              <a:t>The </a:t>
            </a:r>
            <a:r>
              <a:rPr lang="en-IN" sz="1400" b="1" dirty="0"/>
              <a:t>Data Link Layer</a:t>
            </a:r>
            <a:r>
              <a:rPr lang="en-IN" sz="1400" dirty="0"/>
              <a:t> adds MAC addresses and creates </a:t>
            </a:r>
            <a:r>
              <a:rPr lang="en-IN" sz="1400" b="1" dirty="0"/>
              <a:t>frames</a:t>
            </a:r>
            <a:r>
              <a:rPr lang="en-IN" sz="1400" dirty="0"/>
              <a:t>. </a:t>
            </a:r>
          </a:p>
          <a:p>
            <a:pPr>
              <a:lnSpc>
                <a:spcPct val="150000"/>
              </a:lnSpc>
            </a:pPr>
            <a:r>
              <a:rPr lang="en-IN" sz="1400" dirty="0"/>
              <a:t>The </a:t>
            </a:r>
            <a:r>
              <a:rPr lang="en-IN" sz="1400" b="1" dirty="0"/>
              <a:t>Physical Layer</a:t>
            </a:r>
            <a:r>
              <a:rPr lang="en-IN" sz="1400" dirty="0"/>
              <a:t> converts frames into </a:t>
            </a:r>
            <a:r>
              <a:rPr lang="en-IN" sz="1400" b="1" dirty="0"/>
              <a:t>bits</a:t>
            </a:r>
            <a:r>
              <a:rPr lang="en-IN" sz="1400" dirty="0"/>
              <a:t> for transmission. </a:t>
            </a:r>
          </a:p>
          <a:p>
            <a:pPr>
              <a:lnSpc>
                <a:spcPct val="150000"/>
              </a:lnSpc>
            </a:pPr>
            <a:r>
              <a:rPr lang="en-IN" sz="1400" dirty="0"/>
              <a:t>This process is called </a:t>
            </a:r>
            <a:r>
              <a:rPr lang="en-IN" sz="1400" b="1" dirty="0"/>
              <a:t>Encapsulation</a:t>
            </a:r>
            <a:r>
              <a:rPr lang="en-IN" sz="1400" dirty="0"/>
              <a:t>, which enables reliable data transfer across networks.</a:t>
            </a:r>
          </a:p>
          <a:p>
            <a:pPr algn="ctr">
              <a:lnSpc>
                <a:spcPct val="150000"/>
              </a:lnSpc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8908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3AB016-735E-AF2E-1634-F96E87552EA6}"/>
              </a:ext>
            </a:extLst>
          </p:cNvPr>
          <p:cNvSpPr txBox="1"/>
          <p:nvPr/>
        </p:nvSpPr>
        <p:spPr>
          <a:xfrm>
            <a:off x="425450" y="241300"/>
            <a:ext cx="6781800" cy="1050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3. MAC Address and IP Address Concept Map</a:t>
            </a:r>
          </a:p>
          <a:p>
            <a:pPr>
              <a:buNone/>
            </a:pPr>
            <a:endParaRPr lang="en-IN" sz="1400" b="1" dirty="0"/>
          </a:p>
          <a:p>
            <a:pPr algn="ctr">
              <a:buNone/>
            </a:pPr>
            <a:r>
              <a:rPr lang="en-IN" sz="1400" b="1" dirty="0"/>
              <a:t>Concept Map</a:t>
            </a:r>
          </a:p>
          <a:p>
            <a:pPr algn="ctr">
              <a:buNone/>
            </a:pPr>
            <a:endParaRPr lang="en-IN" sz="1400" b="1" dirty="0"/>
          </a:p>
          <a:p>
            <a:pPr algn="ctr"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Data Link Layer</a:t>
            </a:r>
          </a:p>
          <a:p>
            <a:pPr algn="ctr"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      ↓</a:t>
            </a:r>
          </a:p>
          <a:p>
            <a:pPr algn="ctr"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  MAC Address</a:t>
            </a:r>
          </a:p>
          <a:p>
            <a:pPr algn="ctr"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      ↓</a:t>
            </a:r>
          </a:p>
          <a:p>
            <a:pPr algn="ctr"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Local Delivery</a:t>
            </a:r>
          </a:p>
          <a:p>
            <a:pPr algn="ctr" rtl="0">
              <a:buNone/>
            </a:pPr>
            <a:endParaRPr lang="en-IN" sz="1400" dirty="0">
              <a:latin typeface="Courier New" panose="02070309020205020404" pitchFamily="49" charset="0"/>
            </a:endParaRPr>
          </a:p>
          <a:p>
            <a:pPr algn="ctr"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Network Layer</a:t>
            </a:r>
          </a:p>
          <a:p>
            <a:pPr algn="ctr"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      ↓</a:t>
            </a:r>
          </a:p>
          <a:p>
            <a:pPr algn="ctr"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 IP Address</a:t>
            </a:r>
          </a:p>
          <a:p>
            <a:pPr algn="ctr"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      ↓</a:t>
            </a:r>
          </a:p>
          <a:p>
            <a:pPr algn="ctr"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Global Delivery</a:t>
            </a:r>
          </a:p>
          <a:p>
            <a:pPr algn="ctr" rtl="0">
              <a:buNone/>
            </a:pPr>
            <a:endParaRPr lang="en-IN" sz="1400" dirty="0"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1400" b="1" dirty="0"/>
              <a:t>Explanation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MAC Address</a:t>
            </a:r>
            <a:r>
              <a:rPr lang="en-IN" sz="1400" dirty="0"/>
              <a:t> uniquely identifies devices within the same local network (LAN).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IP Address</a:t>
            </a:r>
            <a:r>
              <a:rPr lang="en-IN" sz="1400" dirty="0"/>
              <a:t> identifies devices across different networks.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The </a:t>
            </a:r>
            <a:r>
              <a:rPr lang="en-IN" sz="1400" b="1" dirty="0"/>
              <a:t>Data Link Layer</a:t>
            </a:r>
            <a:r>
              <a:rPr lang="en-IN" sz="1400" dirty="0"/>
              <a:t> delivers data to the next device using MAC addresses.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The </a:t>
            </a:r>
            <a:r>
              <a:rPr lang="en-IN" sz="1400" b="1" dirty="0"/>
              <a:t>Network Layer</a:t>
            </a:r>
            <a:r>
              <a:rPr lang="en-IN" sz="1400" dirty="0"/>
              <a:t> routes packets from source to destination using IP addresses. </a:t>
            </a:r>
          </a:p>
          <a:p>
            <a:pPr>
              <a:lnSpc>
                <a:spcPct val="150000"/>
              </a:lnSpc>
              <a:buNone/>
            </a:pPr>
            <a:r>
              <a:rPr lang="en-IN" sz="1400" dirty="0"/>
              <a:t>Together, they ensure complete and accurate delivery of data from sender to receiver.</a:t>
            </a:r>
          </a:p>
          <a:p>
            <a:pPr>
              <a:lnSpc>
                <a:spcPct val="150000"/>
              </a:lnSpc>
              <a:buNone/>
            </a:pPr>
            <a:endParaRPr lang="en-IN" sz="1400" dirty="0"/>
          </a:p>
          <a:p>
            <a:r>
              <a:rPr lang="en-IN" sz="1400" b="1" dirty="0"/>
              <a:t>4. Error Control Concept Map</a:t>
            </a:r>
          </a:p>
          <a:p>
            <a:endParaRPr lang="en-IN" sz="1400" b="1" dirty="0"/>
          </a:p>
          <a:p>
            <a:pPr algn="ctr"/>
            <a:r>
              <a:rPr lang="en-IN" sz="1400" b="1" dirty="0"/>
              <a:t>Concept Map</a:t>
            </a:r>
          </a:p>
          <a:p>
            <a:pPr algn="ctr"/>
            <a:endParaRPr lang="en-IN" sz="1400" b="1" dirty="0"/>
          </a:p>
          <a:p>
            <a:pPr algn="ctr" rtl="0"/>
            <a:r>
              <a:rPr lang="en-IN" sz="1400" dirty="0"/>
              <a:t>Error Control</a:t>
            </a:r>
          </a:p>
          <a:p>
            <a:pPr algn="ctr" rtl="0"/>
            <a:r>
              <a:rPr lang="en-IN" sz="1400" dirty="0"/>
              <a:t>     ↓</a:t>
            </a:r>
          </a:p>
          <a:p>
            <a:pPr algn="ctr" rtl="0"/>
            <a:r>
              <a:rPr lang="en-IN" sz="1400" dirty="0"/>
              <a:t>Data Link Layer</a:t>
            </a:r>
          </a:p>
          <a:p>
            <a:pPr algn="ctr" rtl="0"/>
            <a:r>
              <a:rPr lang="en-IN" sz="1400" dirty="0"/>
              <a:t>     ↓</a:t>
            </a:r>
          </a:p>
          <a:p>
            <a:pPr algn="ctr" rtl="0"/>
            <a:r>
              <a:rPr lang="en-IN" sz="1400" dirty="0"/>
              <a:t>Error Detection</a:t>
            </a:r>
          </a:p>
          <a:p>
            <a:pPr algn="ctr" rtl="0"/>
            <a:r>
              <a:rPr lang="en-IN" sz="1400" dirty="0"/>
              <a:t>     ↓</a:t>
            </a:r>
          </a:p>
          <a:p>
            <a:pPr algn="ctr" rtl="0"/>
            <a:r>
              <a:rPr lang="en-IN" sz="1400" dirty="0"/>
              <a:t>Transport Layer</a:t>
            </a:r>
          </a:p>
          <a:p>
            <a:pPr algn="ctr" rtl="0"/>
            <a:r>
              <a:rPr lang="en-IN" sz="1400" dirty="0"/>
              <a:t>     ↓</a:t>
            </a:r>
          </a:p>
          <a:p>
            <a:pPr algn="ctr" rtl="0"/>
            <a:r>
              <a:rPr lang="en-IN" sz="1400" dirty="0"/>
              <a:t>Error Correction</a:t>
            </a:r>
          </a:p>
          <a:p>
            <a:r>
              <a:rPr lang="en-IN" sz="1400" b="1" dirty="0"/>
              <a:t>Analysis</a:t>
            </a:r>
          </a:p>
          <a:p>
            <a:r>
              <a:rPr lang="en-IN" sz="1400" dirty="0"/>
              <a:t>The </a:t>
            </a:r>
            <a:r>
              <a:rPr lang="en-IN" sz="1400" b="1" dirty="0"/>
              <a:t>Data Link Layer</a:t>
            </a:r>
            <a:r>
              <a:rPr lang="en-IN" sz="1400" dirty="0"/>
              <a:t> detects transmission errors using techniques like </a:t>
            </a:r>
            <a:r>
              <a:rPr lang="en-IN" sz="1400" b="1" dirty="0"/>
              <a:t>CRC</a:t>
            </a:r>
            <a:r>
              <a:rPr lang="en-IN" sz="1400" dirty="0"/>
              <a:t>. </a:t>
            </a:r>
          </a:p>
          <a:p>
            <a:r>
              <a:rPr lang="en-IN" sz="1400" dirty="0"/>
              <a:t>If an error is found, the frame is discarded. </a:t>
            </a:r>
          </a:p>
          <a:p>
            <a:r>
              <a:rPr lang="en-IN" sz="1400" dirty="0"/>
              <a:t>The </a:t>
            </a:r>
            <a:r>
              <a:rPr lang="en-IN" sz="1400" b="1" dirty="0"/>
              <a:t>Transport Layer</a:t>
            </a:r>
            <a:r>
              <a:rPr lang="en-IN" sz="1400" dirty="0"/>
              <a:t> retransmits lost or corrupted segments using acknowledgements and sequence numbers. </a:t>
            </a:r>
          </a:p>
          <a:p>
            <a:r>
              <a:rPr lang="en-IN" sz="1400" dirty="0"/>
              <a:t>Together, these layers ensure reliable communication with minimal data loss.</a:t>
            </a:r>
          </a:p>
          <a:p>
            <a:pPr>
              <a:lnSpc>
                <a:spcPct val="150000"/>
              </a:lnSpc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040585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3C03C8-F482-A82B-3D87-E5CB39679600}"/>
              </a:ext>
            </a:extLst>
          </p:cNvPr>
          <p:cNvSpPr txBox="1"/>
          <p:nvPr/>
        </p:nvSpPr>
        <p:spPr>
          <a:xfrm>
            <a:off x="349250" y="622300"/>
            <a:ext cx="68580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Web Browsing Using OSI Layers</a:t>
            </a:r>
          </a:p>
          <a:p>
            <a:pPr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Map</a:t>
            </a:r>
          </a:p>
          <a:p>
            <a:pPr algn="ctr"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</a:t>
            </a:r>
          </a:p>
          <a:p>
            <a:pPr algn="ctr"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(HTTP/HTTPS)</a:t>
            </a:r>
          </a:p>
          <a:p>
            <a:pPr algn="ctr"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(Encryption - SSL/TLS)</a:t>
            </a:r>
          </a:p>
          <a:p>
            <a:pPr algn="ctr"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(Session Management)</a:t>
            </a:r>
          </a:p>
          <a:p>
            <a:pPr algn="ctr"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(TCP)</a:t>
            </a:r>
          </a:p>
          <a:p>
            <a:pPr algn="ctr"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(IP Routing)</a:t>
            </a:r>
          </a:p>
          <a:p>
            <a:pPr algn="ctr"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Link (Frame &amp; MAC Address)</a:t>
            </a:r>
          </a:p>
          <a:p>
            <a:pPr algn="ctr"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(Bits over Cable/Wi-Fi)</a:t>
            </a:r>
          </a:p>
          <a:p>
            <a:pPr algn="ctr" rtl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browser sends an HTTP request through all OSI layers.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performs its own function before passing the data to the next layer.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any layer fails: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Layer failure → No connection.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Link failure → Frames cannot reach the next device.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failure → Packet cannot reach the destination.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failure → Data loss or incomplete webpage.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failure → Website cannot be accessed.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every OSI layer is essential for successful web browsing.</a:t>
            </a:r>
          </a:p>
        </p:txBody>
      </p:sp>
    </p:spTree>
    <p:extLst>
      <p:ext uri="{BB962C8B-B14F-4D97-AF65-F5344CB8AC3E}">
        <p14:creationId xmlns:p14="http://schemas.microsoft.com/office/powerpoint/2010/main" val="4218512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B58B6D-0559-C67B-549D-122F8BA919E4}"/>
              </a:ext>
            </a:extLst>
          </p:cNvPr>
          <p:cNvSpPr txBox="1"/>
          <p:nvPr/>
        </p:nvSpPr>
        <p:spPr>
          <a:xfrm>
            <a:off x="425450" y="393700"/>
            <a:ext cx="6705600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Troubleshooting Using Concept Map</a:t>
            </a:r>
          </a:p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✔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Link ✔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✖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✖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✖</a:t>
            </a:r>
          </a:p>
          <a:p>
            <a:pPr rtl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Layer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working, so cables or Wi-Fi are functioning correctly.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Link Layer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also working, so local communication is successful.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Layer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failed due to routing or IP addressing issues.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Network Layer fails, the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Layer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cannot establish communication.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the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cannot provide services to users. \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Troubleshooting Steps</a:t>
            </a:r>
          </a:p>
          <a:p>
            <a:pPr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IP configuration. </a:t>
            </a:r>
          </a:p>
          <a:p>
            <a:pPr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the default gateway. </a:t>
            </a:r>
          </a:p>
          <a:p>
            <a:pPr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routing using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traceroute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router and routing tables. </a:t>
            </a:r>
          </a:p>
          <a:p>
            <a:pPr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firewall or network settings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concept map helps identify that the root cause is at the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Layer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troubleshooting faster and more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systematic.a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691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1246</Words>
  <Application>Microsoft Office PowerPoint</Application>
  <PresentationFormat>Custom</PresentationFormat>
  <Paragraphs>258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MT</vt:lpstr>
      <vt:lpstr>Calibri</vt:lpstr>
      <vt:lpstr>Courier New</vt:lpstr>
      <vt:lpstr>Segoe UI 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Jesu Jayarin</dc:creator>
  <cp:lastModifiedBy>Monika M</cp:lastModifiedBy>
  <cp:revision>1</cp:revision>
  <dcterms:created xsi:type="dcterms:W3CDTF">2026-07-16T13:51:11Z</dcterms:created>
  <dcterms:modified xsi:type="dcterms:W3CDTF">2026-07-16T15:17:25Z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2026-07-13T00:00:00Z</vt:filetime>
  </property>
  <property fmtid="{D5CDD505-2E9C-101B-9397-08002B2CF9AE}" pid="4" name="Creator">
    <vt:lpwstr>Microsoft® Word 2019</vt:lpwstr>
  </property>
  <property fmtid="{D5CDD505-2E9C-101B-9397-08002B2CF9AE}" pid="5" name="LastSaved">
    <vt:filetime>2026-07-16T00:00:00Z</vt:filetime>
  </property>
  <property fmtid="{D5CDD505-2E9C-101B-9397-08002B2CF9AE}" pid="6" name="Producer">
    <vt:lpwstr>Microsoft® Word 2019</vt:lpwstr>
  </property>
</Properties>
</file>