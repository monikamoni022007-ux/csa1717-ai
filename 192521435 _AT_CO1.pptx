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33329-9ACE-4C84-B674-273E793E073D}" v="15" dt="2026-07-16T14:18:05.8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81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M" userId="91b727d2bed6c659" providerId="LiveId" clId="{E1C9E743-D478-4B79-91C6-0A23B373188C}"/>
    <pc:docChg chg="custSel addSld delSld modSld sldOrd">
      <pc:chgData name="Monika M" userId="91b727d2bed6c659" providerId="LiveId" clId="{E1C9E743-D478-4B79-91C6-0A23B373188C}" dt="2026-07-16T14:20:45.090" v="334" actId="20577"/>
      <pc:docMkLst>
        <pc:docMk/>
      </pc:docMkLst>
      <pc:sldChg chg="modSp mod">
        <pc:chgData name="Monika M" userId="91b727d2bed6c659" providerId="LiveId" clId="{E1C9E743-D478-4B79-91C6-0A23B373188C}" dt="2026-07-16T13:56:47.905" v="41" actId="20577"/>
        <pc:sldMkLst>
          <pc:docMk/>
          <pc:sldMk cId="0" sldId="256"/>
        </pc:sldMkLst>
        <pc:spChg chg="mod">
          <ac:chgData name="Monika M" userId="91b727d2bed6c659" providerId="LiveId" clId="{E1C9E743-D478-4B79-91C6-0A23B373188C}" dt="2026-07-16T13:56:01.216" v="2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nika M" userId="91b727d2bed6c659" providerId="LiveId" clId="{E1C9E743-D478-4B79-91C6-0A23B373188C}" dt="2026-07-16T13:56:47.905" v="41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Monika M" userId="91b727d2bed6c659" providerId="LiveId" clId="{E1C9E743-D478-4B79-91C6-0A23B373188C}" dt="2026-07-16T14:16:46.966" v="286" actId="47"/>
        <pc:sldMkLst>
          <pc:docMk/>
          <pc:sldMk cId="0" sldId="257"/>
        </pc:sldMkLst>
      </pc:sldChg>
      <pc:sldChg chg="del">
        <pc:chgData name="Monika M" userId="91b727d2bed6c659" providerId="LiveId" clId="{E1C9E743-D478-4B79-91C6-0A23B373188C}" dt="2026-07-16T14:16:53.503" v="287" actId="47"/>
        <pc:sldMkLst>
          <pc:docMk/>
          <pc:sldMk cId="0" sldId="258"/>
        </pc:sldMkLst>
      </pc:sldChg>
      <pc:sldChg chg="delSp modSp mod">
        <pc:chgData name="Monika M" userId="91b727d2bed6c659" providerId="LiveId" clId="{E1C9E743-D478-4B79-91C6-0A23B373188C}" dt="2026-07-16T14:19:35.114" v="326" actId="1076"/>
        <pc:sldMkLst>
          <pc:docMk/>
          <pc:sldMk cId="0" sldId="259"/>
        </pc:sldMkLst>
        <pc:spChg chg="del mod">
          <ac:chgData name="Monika M" userId="91b727d2bed6c659" providerId="LiveId" clId="{E1C9E743-D478-4B79-91C6-0A23B373188C}" dt="2026-07-16T14:18:51.507" v="322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nika M" userId="91b727d2bed6c659" providerId="LiveId" clId="{E1C9E743-D478-4B79-91C6-0A23B373188C}" dt="2026-07-16T14:18:39.126" v="318" actId="1076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onika M" userId="91b727d2bed6c659" providerId="LiveId" clId="{E1C9E743-D478-4B79-91C6-0A23B373188C}" dt="2026-07-16T14:19:35.114" v="326" actId="1076"/>
          <ac:graphicFrameMkLst>
            <pc:docMk/>
            <pc:sldMk cId="0" sldId="259"/>
            <ac:graphicFrameMk id="4" creationId="{00000000-0000-0000-0000-000000000000}"/>
          </ac:graphicFrameMkLst>
        </pc:graphicFrameChg>
      </pc:sldChg>
      <pc:sldChg chg="addSp modSp new mod ord">
        <pc:chgData name="Monika M" userId="91b727d2bed6c659" providerId="LiveId" clId="{E1C9E743-D478-4B79-91C6-0A23B373188C}" dt="2026-07-16T14:20:15.300" v="330" actId="20577"/>
        <pc:sldMkLst>
          <pc:docMk/>
          <pc:sldMk cId="3027150073" sldId="261"/>
        </pc:sldMkLst>
        <pc:spChg chg="add mod">
          <ac:chgData name="Monika M" userId="91b727d2bed6c659" providerId="LiveId" clId="{E1C9E743-D478-4B79-91C6-0A23B373188C}" dt="2026-07-16T14:20:15.300" v="330" actId="20577"/>
          <ac:spMkLst>
            <pc:docMk/>
            <pc:sldMk cId="3027150073" sldId="261"/>
            <ac:spMk id="3" creationId="{B1C5E3AB-D7D6-07CD-DE82-48CFD631073C}"/>
          </ac:spMkLst>
        </pc:spChg>
      </pc:sldChg>
      <pc:sldChg chg="addSp modSp new mod">
        <pc:chgData name="Monika M" userId="91b727d2bed6c659" providerId="LiveId" clId="{E1C9E743-D478-4B79-91C6-0A23B373188C}" dt="2026-07-16T14:20:28.128" v="332" actId="113"/>
        <pc:sldMkLst>
          <pc:docMk/>
          <pc:sldMk cId="625314942" sldId="262"/>
        </pc:sldMkLst>
        <pc:spChg chg="add mod">
          <ac:chgData name="Monika M" userId="91b727d2bed6c659" providerId="LiveId" clId="{E1C9E743-D478-4B79-91C6-0A23B373188C}" dt="2026-07-16T14:20:28.128" v="332" actId="113"/>
          <ac:spMkLst>
            <pc:docMk/>
            <pc:sldMk cId="625314942" sldId="262"/>
            <ac:spMk id="3" creationId="{971164A0-0235-E301-EB6F-376AA504E4CD}"/>
          </ac:spMkLst>
        </pc:spChg>
      </pc:sldChg>
      <pc:sldChg chg="addSp modSp new mod">
        <pc:chgData name="Monika M" userId="91b727d2bed6c659" providerId="LiveId" clId="{E1C9E743-D478-4B79-91C6-0A23B373188C}" dt="2026-07-16T14:20:45.090" v="334" actId="20577"/>
        <pc:sldMkLst>
          <pc:docMk/>
          <pc:sldMk cId="718305358" sldId="263"/>
        </pc:sldMkLst>
        <pc:spChg chg="add mod">
          <ac:chgData name="Monika M" userId="91b727d2bed6c659" providerId="LiveId" clId="{E1C9E743-D478-4B79-91C6-0A23B373188C}" dt="2026-07-16T14:20:45.090" v="334" actId="20577"/>
          <ac:spMkLst>
            <pc:docMk/>
            <pc:sldMk cId="718305358" sldId="263"/>
            <ac:spMk id="3" creationId="{24837FCF-DFE9-61DF-EDA1-F79339B51CDE}"/>
          </ac:spMkLst>
        </pc:spChg>
      </pc:sldChg>
      <pc:sldChg chg="addSp modSp new mod">
        <pc:chgData name="Monika M" userId="91b727d2bed6c659" providerId="LiveId" clId="{E1C9E743-D478-4B79-91C6-0A23B373188C}" dt="2026-07-16T14:12:54.367" v="226" actId="20577"/>
        <pc:sldMkLst>
          <pc:docMk/>
          <pc:sldMk cId="4133800758" sldId="264"/>
        </pc:sldMkLst>
        <pc:spChg chg="add mod">
          <ac:chgData name="Monika M" userId="91b727d2bed6c659" providerId="LiveId" clId="{E1C9E743-D478-4B79-91C6-0A23B373188C}" dt="2026-07-16T14:12:54.367" v="226" actId="20577"/>
          <ac:spMkLst>
            <pc:docMk/>
            <pc:sldMk cId="4133800758" sldId="264"/>
            <ac:spMk id="3" creationId="{59229853-0874-13F5-9DC3-CCE172576E71}"/>
          </ac:spMkLst>
        </pc:spChg>
      </pc:sldChg>
      <pc:sldChg chg="addSp modSp new mod">
        <pc:chgData name="Monika M" userId="91b727d2bed6c659" providerId="LiveId" clId="{E1C9E743-D478-4B79-91C6-0A23B373188C}" dt="2026-07-16T14:16:28.634" v="285" actId="1076"/>
        <pc:sldMkLst>
          <pc:docMk/>
          <pc:sldMk cId="1145721616" sldId="265"/>
        </pc:sldMkLst>
        <pc:spChg chg="add mod">
          <ac:chgData name="Monika M" userId="91b727d2bed6c659" providerId="LiveId" clId="{E1C9E743-D478-4B79-91C6-0A23B373188C}" dt="2026-07-16T14:16:28.634" v="285" actId="1076"/>
          <ac:spMkLst>
            <pc:docMk/>
            <pc:sldMk cId="1145721616" sldId="265"/>
            <ac:spMk id="3" creationId="{2BA6247D-D73F-0243-698F-F8FCA1F48D13}"/>
          </ac:spMkLst>
        </pc:spChg>
      </pc:sldChg>
      <pc:sldChg chg="addSp modSp new mod">
        <pc:chgData name="Monika M" userId="91b727d2bed6c659" providerId="LiveId" clId="{E1C9E743-D478-4B79-91C6-0A23B373188C}" dt="2026-07-16T14:18:13.671" v="315" actId="20577"/>
        <pc:sldMkLst>
          <pc:docMk/>
          <pc:sldMk cId="3276526467" sldId="266"/>
        </pc:sldMkLst>
        <pc:spChg chg="add mod">
          <ac:chgData name="Monika M" userId="91b727d2bed6c659" providerId="LiveId" clId="{E1C9E743-D478-4B79-91C6-0A23B373188C}" dt="2026-07-16T14:18:13.671" v="315" actId="20577"/>
          <ac:spMkLst>
            <pc:docMk/>
            <pc:sldMk cId="3276526467" sldId="266"/>
            <ac:spMk id="3" creationId="{1EEDFA01-EFEF-80AF-65A0-8C916B958DFD}"/>
          </ac:spMkLst>
        </pc:spChg>
      </pc:sldChg>
      <pc:sldChg chg="new del">
        <pc:chgData name="Monika M" userId="91b727d2bed6c659" providerId="LiveId" clId="{E1C9E743-D478-4B79-91C6-0A23B373188C}" dt="2026-07-16T14:17:14.329" v="290" actId="47"/>
        <pc:sldMkLst>
          <pc:docMk/>
          <pc:sldMk cId="3472214152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D62C5-65A3-476B-AD07-F374E8DD7C3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FF8CF-B384-4B01-A8ED-C232985C2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60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FF8CF-B384-4B01-A8ED-C232985C284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9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9402" y="886713"/>
            <a:ext cx="246634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0"/>
              </a:lnSpc>
              <a:spcBef>
                <a:spcPts val="100"/>
              </a:spcBef>
            </a:pPr>
            <a:r>
              <a:rPr sz="1700" b="1" dirty="0">
                <a:latin typeface="Times New Roman"/>
                <a:cs typeface="Times New Roman"/>
              </a:rPr>
              <a:t>SIMATS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ENGINEERING</a:t>
            </a:r>
            <a:endParaRPr sz="1700">
              <a:latin typeface="Times New Roman"/>
              <a:cs typeface="Times New Roman"/>
            </a:endParaRPr>
          </a:p>
          <a:p>
            <a:pPr marR="46355" algn="ctr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ASSESSMENT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TOOL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842261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NAME: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935" y="1842261"/>
            <a:ext cx="32359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CSA07</a:t>
            </a:r>
            <a:r>
              <a:rPr lang="en-IN" sz="1200" b="1" dirty="0">
                <a:latin typeface="Arial"/>
                <a:cs typeface="Arial"/>
              </a:rPr>
              <a:t>04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Computer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Networks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2703321"/>
            <a:ext cx="5603240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OUTCOME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COVERED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b="1" i="1" dirty="0">
                <a:latin typeface="Arial"/>
                <a:cs typeface="Arial"/>
              </a:rPr>
              <a:t>CO1:</a:t>
            </a:r>
            <a:r>
              <a:rPr sz="1200" b="1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Apply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functions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of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OSI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layer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enabling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reliable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data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transmission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across networks.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(BL2,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BL3)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200" i="1" dirty="0">
                <a:latin typeface="Arial"/>
                <a:cs typeface="Arial"/>
              </a:rPr>
              <a:t>Assessment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Tool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Weightage: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40%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1135" y="4267326"/>
            <a:ext cx="171068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Annexure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latin typeface="Arial"/>
                <a:cs typeface="Arial"/>
              </a:rPr>
              <a:t>SHORT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ANSWER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TEST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003416"/>
            <a:ext cx="5787390" cy="1610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tabLst>
                <a:tab pos="1650364" algn="l"/>
              </a:tabLst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lang="en-IN" sz="1200" b="1" i="1" spc="-15" dirty="0" err="1">
                <a:latin typeface="Times New Roman"/>
                <a:cs typeface="Times New Roman"/>
              </a:rPr>
              <a:t>M.Monika</a:t>
            </a:r>
            <a:r>
              <a:rPr lang="en-IN" sz="1200" b="1" i="1" spc="-15" dirty="0">
                <a:latin typeface="Times New Roman"/>
                <a:cs typeface="Times New Roman"/>
              </a:rPr>
              <a:t> / 192521435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i="1" spc="-10" dirty="0">
                <a:latin typeface="Times New Roman"/>
                <a:cs typeface="Times New Roman"/>
              </a:rPr>
              <a:t>(Name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/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Reg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No)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certify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submission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original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</a:t>
            </a:r>
            <a:r>
              <a:rPr sz="1200" i="1" spc="-55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and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have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adhered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guidelines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specified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result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student:</a:t>
            </a:r>
            <a:endParaRPr lang="en-IN" sz="1200" b="1" i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lang="en-IN" sz="1200" b="1" i="1" spc="-10" dirty="0">
                <a:latin typeface="Times New Roman"/>
                <a:cs typeface="Times New Roman"/>
              </a:rPr>
              <a:t>Monika . M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2523362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69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4400" y="4085970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70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4400" y="5823839"/>
            <a:ext cx="5746115" cy="26670"/>
          </a:xfrm>
          <a:custGeom>
            <a:avLst/>
            <a:gdLst/>
            <a:ahLst/>
            <a:cxnLst/>
            <a:rect l="l" t="t" r="r" b="b"/>
            <a:pathLst>
              <a:path w="5746115" h="26670">
                <a:moveTo>
                  <a:pt x="0" y="26670"/>
                </a:moveTo>
                <a:lnTo>
                  <a:pt x="5746115" y="26670"/>
                </a:lnTo>
                <a:lnTo>
                  <a:pt x="5746115" y="0"/>
                </a:lnTo>
                <a:lnTo>
                  <a:pt x="0" y="0"/>
                </a:lnTo>
                <a:lnTo>
                  <a:pt x="0" y="266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C5E3AB-D7D6-07CD-DE82-48CFD631073C}"/>
              </a:ext>
            </a:extLst>
          </p:cNvPr>
          <p:cNvSpPr txBox="1"/>
          <p:nvPr/>
        </p:nvSpPr>
        <p:spPr>
          <a:xfrm>
            <a:off x="501650" y="317501"/>
            <a:ext cx="6629400" cy="907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32715" algn="ctr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Arial MT"/>
                <a:cs typeface="Arial MT"/>
              </a:rPr>
              <a:t>Annexure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spc="-50" dirty="0">
                <a:latin typeface="Arial MT"/>
                <a:cs typeface="Arial MT"/>
              </a:rPr>
              <a:t>A</a:t>
            </a:r>
            <a:endParaRPr lang="en-US" sz="1200" dirty="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1320"/>
              </a:spcBef>
            </a:pPr>
            <a:r>
              <a:rPr lang="en-US" sz="1200" b="1" dirty="0">
                <a:latin typeface="Arial"/>
                <a:cs typeface="Arial"/>
              </a:rPr>
              <a:t>Short</a:t>
            </a:r>
            <a:r>
              <a:rPr lang="en-US" sz="1200" b="1" spc="-35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Answer</a:t>
            </a:r>
            <a:r>
              <a:rPr lang="en-US" sz="1200" b="1" spc="-35" dirty="0">
                <a:latin typeface="Arial"/>
                <a:cs typeface="Arial"/>
              </a:rPr>
              <a:t> </a:t>
            </a:r>
            <a:r>
              <a:rPr lang="en-US" sz="1200" b="1" spc="-20" dirty="0">
                <a:latin typeface="Arial"/>
                <a:cs typeface="Arial"/>
              </a:rPr>
              <a:t>Test</a:t>
            </a:r>
            <a:endParaRPr lang="en-US"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lang="en-US" sz="1200" dirty="0">
              <a:latin typeface="Arial"/>
              <a:cs typeface="Arial"/>
            </a:endParaRPr>
          </a:p>
          <a:p>
            <a:pPr marL="12700" marR="6985" indent="195580" algn="just">
              <a:lnSpc>
                <a:spcPct val="143700"/>
              </a:lnSpc>
              <a:buFont typeface="Arial MT"/>
              <a:buAutoNum type="arabicPeriod"/>
              <a:tabLst>
                <a:tab pos="208279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company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needs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transfer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150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</a:t>
            </a:r>
            <a:r>
              <a:rPr lang="en-US" sz="1400" b="1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design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from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client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computer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50" dirty="0">
                <a:latin typeface="Times New Roman"/>
                <a:cs typeface="Times New Roman"/>
              </a:rPr>
              <a:t>a </a:t>
            </a:r>
            <a:r>
              <a:rPr lang="en-US" sz="1400" dirty="0">
                <a:latin typeface="Times New Roman"/>
                <a:cs typeface="Times New Roman"/>
              </a:rPr>
              <a:t>remote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server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network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with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bandwidth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50</a:t>
            </a:r>
            <a:r>
              <a:rPr lang="en-US" sz="1400" b="1" spc="-5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Mbps</a:t>
            </a:r>
            <a:r>
              <a:rPr lang="en-US" sz="1400" dirty="0">
                <a:latin typeface="Times New Roman"/>
                <a:cs typeface="Times New Roman"/>
              </a:rPr>
              <a:t>.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 </a:t>
            </a:r>
            <a:r>
              <a:rPr lang="en-US" sz="1400" dirty="0">
                <a:latin typeface="Times New Roman"/>
                <a:cs typeface="Times New Roman"/>
              </a:rPr>
              <a:t>divides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into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1500-</a:t>
            </a:r>
            <a:r>
              <a:rPr lang="en-US" sz="1400" b="1" dirty="0">
                <a:latin typeface="Times New Roman"/>
                <a:cs typeface="Times New Roman"/>
              </a:rPr>
              <a:t>byte</a:t>
            </a:r>
            <a:r>
              <a:rPr lang="en-US" sz="1400" b="1" spc="-50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segments</a:t>
            </a:r>
            <a:r>
              <a:rPr lang="en-US" sz="1400" spc="-10" dirty="0">
                <a:latin typeface="Times New Roman"/>
                <a:cs typeface="Times New Roman"/>
              </a:rPr>
              <a:t>,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while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Link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encapsulates </a:t>
            </a:r>
            <a:r>
              <a:rPr lang="en-US" sz="1400" dirty="0">
                <a:latin typeface="Times New Roman"/>
                <a:cs typeface="Times New Roman"/>
              </a:rPr>
              <a:t>each</a:t>
            </a:r>
            <a:r>
              <a:rPr lang="en-US" sz="1400" spc="7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segment</a:t>
            </a:r>
            <a:r>
              <a:rPr lang="en-US" sz="1400" spc="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into</a:t>
            </a:r>
            <a:r>
              <a:rPr lang="en-US" sz="1400" spc="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frames</a:t>
            </a:r>
            <a:r>
              <a:rPr lang="en-US" sz="1400" spc="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by</a:t>
            </a:r>
            <a:r>
              <a:rPr lang="en-US" sz="1400" spc="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adding</a:t>
            </a:r>
            <a:r>
              <a:rPr lang="en-US" sz="1400" spc="9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40</a:t>
            </a:r>
            <a:r>
              <a:rPr lang="en-US" sz="1400" b="1" spc="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b="1" spc="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of</a:t>
            </a:r>
            <a:r>
              <a:rPr lang="en-US" sz="1400" b="1" spc="7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header</a:t>
            </a:r>
            <a:r>
              <a:rPr lang="en-US" sz="1400" b="1" spc="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and</a:t>
            </a:r>
            <a:r>
              <a:rPr lang="en-US" sz="1400" b="1" spc="7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trailer</a:t>
            </a:r>
            <a:r>
              <a:rPr lang="en-US" sz="1400" dirty="0">
                <a:latin typeface="Times New Roman"/>
                <a:cs typeface="Times New Roman"/>
              </a:rPr>
              <a:t>.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Calculate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2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2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segments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frames</a:t>
            </a:r>
            <a:r>
              <a:rPr lang="en-US" sz="1400" spc="3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transmitted,</a:t>
            </a:r>
            <a:r>
              <a:rPr lang="en-US" sz="1400" spc="28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transmission </a:t>
            </a:r>
            <a:r>
              <a:rPr lang="en-US" sz="1400" dirty="0">
                <a:latin typeface="Times New Roman"/>
                <a:cs typeface="Times New Roman"/>
              </a:rPr>
              <a:t>overhead introduced by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 Data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Link Layer,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estimate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 total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transmission </a:t>
            </a:r>
            <a:r>
              <a:rPr lang="en-US" sz="1400" dirty="0">
                <a:latin typeface="Times New Roman"/>
                <a:cs typeface="Times New Roman"/>
              </a:rPr>
              <a:t>time</a:t>
            </a:r>
            <a:r>
              <a:rPr lang="en-US" sz="1400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(ignoring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propagation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delay).</a:t>
            </a:r>
            <a:r>
              <a:rPr lang="en-US" sz="1400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2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2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spc="-20" dirty="0">
                <a:latin typeface="Times New Roman"/>
                <a:cs typeface="Times New Roman"/>
              </a:rPr>
              <a:t>Link </a:t>
            </a:r>
            <a:r>
              <a:rPr lang="en-US" sz="1400" dirty="0">
                <a:latin typeface="Times New Roman"/>
                <a:cs typeface="Times New Roman"/>
              </a:rPr>
              <a:t>layers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ensure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reliable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communication.</a:t>
            </a:r>
          </a:p>
          <a:p>
            <a:pPr marL="12700" marR="6985" algn="just">
              <a:lnSpc>
                <a:spcPct val="143700"/>
              </a:lnSpc>
              <a:tabLst>
                <a:tab pos="208279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6985" algn="just">
              <a:lnSpc>
                <a:spcPct val="143700"/>
              </a:lnSpc>
              <a:tabLst>
                <a:tab pos="208279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dirty="0"/>
              <a:t>File Transfer (150 MB)</a:t>
            </a:r>
          </a:p>
          <a:p>
            <a:endParaRPr lang="en-IN" sz="1400" dirty="0"/>
          </a:p>
          <a:p>
            <a:r>
              <a:rPr lang="en-IN" sz="1400" dirty="0"/>
              <a:t>File size = 150 MB = </a:t>
            </a:r>
            <a:r>
              <a:rPr lang="en-IN" sz="1400" b="1" dirty="0"/>
              <a:t>150,000,000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Segment size = </a:t>
            </a:r>
            <a:r>
              <a:rPr lang="en-IN" sz="1400" b="1" dirty="0"/>
              <a:t>1500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Number of segments = </a:t>
            </a:r>
            <a:r>
              <a:rPr lang="en-IN" sz="1400" b="1" dirty="0"/>
              <a:t>150,000,000 ÷ 1500 = 100,000</a:t>
            </a:r>
            <a:r>
              <a:rPr lang="en-IN" sz="1400" dirty="0"/>
              <a:t> </a:t>
            </a:r>
          </a:p>
          <a:p>
            <a:r>
              <a:rPr lang="en-IN" sz="1400" dirty="0"/>
              <a:t>Number of frames = </a:t>
            </a:r>
            <a:r>
              <a:rPr lang="en-IN" sz="1400" b="1" dirty="0"/>
              <a:t>100,000</a:t>
            </a:r>
            <a:r>
              <a:rPr lang="en-IN" sz="1400" dirty="0"/>
              <a:t> </a:t>
            </a:r>
          </a:p>
          <a:p>
            <a:r>
              <a:rPr lang="en-IN" sz="1400" dirty="0"/>
              <a:t>Overhead = </a:t>
            </a:r>
            <a:r>
              <a:rPr lang="en-IN" sz="1400" b="1" dirty="0"/>
              <a:t>100,000 × 40 = 4,000,000 bytes (4 MB)</a:t>
            </a:r>
            <a:r>
              <a:rPr lang="en-IN" sz="1400" dirty="0"/>
              <a:t> </a:t>
            </a:r>
          </a:p>
          <a:p>
            <a:r>
              <a:rPr lang="en-IN" sz="1400" dirty="0"/>
              <a:t>Total data transmitted = </a:t>
            </a:r>
            <a:r>
              <a:rPr lang="en-IN" sz="1400" b="1" dirty="0"/>
              <a:t>154 MB</a:t>
            </a:r>
            <a:r>
              <a:rPr lang="en-IN" sz="1400" dirty="0"/>
              <a:t> </a:t>
            </a:r>
          </a:p>
          <a:p>
            <a:r>
              <a:rPr lang="en-IN" sz="1400" dirty="0"/>
              <a:t>Transmission time = (154 × 8) ÷ 50 = </a:t>
            </a:r>
            <a:r>
              <a:rPr lang="en-IN" sz="1400" b="1" dirty="0"/>
              <a:t>24.64 seconds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The Transport Layer divides data into segments and provides error recovery. The Data Link Layer adds headers/trailers, frames the data, and detects transmission errors.</a:t>
            </a:r>
          </a:p>
          <a:p>
            <a:endParaRPr lang="en-IN" sz="1400" dirty="0"/>
          </a:p>
          <a:p>
            <a:endParaRPr lang="en-IN" sz="1400" dirty="0"/>
          </a:p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/>
                <a:cs typeface="Times New Roman"/>
              </a:rPr>
              <a:t>2. A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protocol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uses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17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sliding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window</a:t>
            </a:r>
            <a:r>
              <a:rPr lang="en-US" sz="1400" b="1" spc="14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size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of</a:t>
            </a:r>
            <a:r>
              <a:rPr lang="en-US" sz="1400" b="1" spc="1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6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frames</a:t>
            </a:r>
            <a:r>
              <a:rPr lang="en-US" sz="1400" dirty="0">
                <a:latin typeface="Times New Roman"/>
                <a:cs typeface="Times New Roman"/>
              </a:rPr>
              <a:t>.</a:t>
            </a:r>
            <a:r>
              <a:rPr lang="en-US" sz="1400" spc="125" dirty="0">
                <a:latin typeface="Times New Roman"/>
                <a:cs typeface="Times New Roman"/>
              </a:rPr>
              <a:t> </a:t>
            </a:r>
            <a:r>
              <a:rPr lang="en-US" sz="1400" spc="-20" dirty="0">
                <a:latin typeface="Times New Roman"/>
                <a:cs typeface="Times New Roman"/>
              </a:rPr>
              <a:t>Each </a:t>
            </a:r>
            <a:r>
              <a:rPr lang="en-US" sz="1400" dirty="0">
                <a:latin typeface="Times New Roman"/>
                <a:cs typeface="Times New Roman"/>
              </a:rPr>
              <a:t>frame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carries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1024</a:t>
            </a:r>
            <a:r>
              <a:rPr lang="en-US" sz="1400" b="1" spc="-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b="1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user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data.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If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sender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48</a:t>
            </a:r>
            <a:r>
              <a:rPr lang="en-US" sz="1400" b="1" spc="-6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frames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-7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calculate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windows</a:t>
            </a:r>
            <a:r>
              <a:rPr lang="en-US" sz="1400" spc="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required.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If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one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every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window</a:t>
            </a:r>
            <a:r>
              <a:rPr lang="en-US" sz="1400" spc="6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is </a:t>
            </a:r>
            <a:r>
              <a:rPr lang="en-US" sz="1400" dirty="0">
                <a:latin typeface="Times New Roman"/>
                <a:cs typeface="Times New Roman"/>
              </a:rPr>
              <a:t>lost</a:t>
            </a:r>
            <a:r>
              <a:rPr lang="en-US" sz="1400" spc="1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must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retransmitted,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determine</a:t>
            </a:r>
            <a:r>
              <a:rPr lang="en-US" sz="1400" spc="1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retransmissions.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flow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control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improves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communication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efficiency.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1400" dirty="0"/>
          </a:p>
          <a:p>
            <a:pPr marL="12700" marR="6985" algn="just">
              <a:lnSpc>
                <a:spcPct val="143700"/>
              </a:lnSpc>
              <a:tabLst>
                <a:tab pos="208279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302715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1164A0-0235-E301-EB6F-376AA504E4CD}"/>
              </a:ext>
            </a:extLst>
          </p:cNvPr>
          <p:cNvSpPr txBox="1"/>
          <p:nvPr/>
        </p:nvSpPr>
        <p:spPr>
          <a:xfrm>
            <a:off x="425450" y="622300"/>
            <a:ext cx="6629400" cy="1103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Sliding Window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Window size = </a:t>
            </a:r>
            <a:r>
              <a:rPr lang="en-IN" b="1" dirty="0"/>
              <a:t>6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 frames = </a:t>
            </a:r>
            <a:r>
              <a:rPr lang="en-IN" b="1" dirty="0"/>
              <a:t>48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 of windows = </a:t>
            </a:r>
            <a:r>
              <a:rPr lang="en-IN" b="1" dirty="0"/>
              <a:t>48 ÷ 6 = 8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 frame lost per window = </a:t>
            </a:r>
            <a:r>
              <a:rPr lang="en-IN" b="1" dirty="0"/>
              <a:t>8 retransmissions</a:t>
            </a:r>
          </a:p>
          <a:p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Explanation:</a:t>
            </a:r>
            <a:r>
              <a:rPr lang="en-IN" dirty="0"/>
              <a:t> Flow control prevents the sender from sending data faster than the receiver can process, reducing congestion and improving efficiency.</a:t>
            </a:r>
          </a:p>
          <a:p>
            <a:pPr>
              <a:buNone/>
            </a:pPr>
            <a:endParaRPr lang="en-IN" dirty="0"/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cs typeface="Times New Roman"/>
              </a:rPr>
              <a:t>3. A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12,000-</a:t>
            </a:r>
            <a:r>
              <a:rPr lang="en-US" sz="1800" b="1" dirty="0">
                <a:latin typeface="Times New Roman"/>
                <a:cs typeface="Times New Roman"/>
              </a:rPr>
              <a:t>byte</a:t>
            </a:r>
            <a:r>
              <a:rPr lang="en-US" sz="1800" b="1" spc="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IP</a:t>
            </a:r>
            <a:r>
              <a:rPr lang="en-US" sz="1800" spc="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packet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is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transmitted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through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router</a:t>
            </a:r>
            <a:r>
              <a:rPr lang="en-US" sz="1800" spc="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where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2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Maximum </a:t>
            </a:r>
            <a:r>
              <a:rPr lang="en-US" sz="1800" dirty="0">
                <a:latin typeface="Times New Roman"/>
                <a:cs typeface="Times New Roman"/>
              </a:rPr>
              <a:t>Transmission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Unit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(MTU)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is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1500</a:t>
            </a:r>
            <a:r>
              <a:rPr lang="en-US" sz="1800" b="1" spc="-4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bytes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Assuming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each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fragment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requires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b="1" spc="-25" dirty="0">
                <a:latin typeface="Times New Roman"/>
                <a:cs typeface="Times New Roman"/>
              </a:rPr>
              <a:t>20-</a:t>
            </a:r>
            <a:r>
              <a:rPr lang="en-US" sz="1800" b="1" dirty="0">
                <a:latin typeface="Times New Roman"/>
                <a:cs typeface="Times New Roman"/>
              </a:rPr>
              <a:t>byte</a:t>
            </a:r>
            <a:r>
              <a:rPr lang="en-US" sz="1800" b="1" spc="16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IP</a:t>
            </a:r>
            <a:r>
              <a:rPr lang="en-US" sz="1800" b="1" spc="16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header</a:t>
            </a:r>
            <a:r>
              <a:rPr lang="en-US" sz="1800" dirty="0">
                <a:latin typeface="Times New Roman"/>
                <a:cs typeface="Times New Roman"/>
              </a:rPr>
              <a:t>,</a:t>
            </a:r>
            <a:r>
              <a:rPr lang="en-US" sz="1800" spc="1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calculate</a:t>
            </a:r>
            <a:r>
              <a:rPr lang="en-US" sz="1800" spc="1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1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total</a:t>
            </a:r>
            <a:r>
              <a:rPr lang="en-US" sz="1800" spc="1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number</a:t>
            </a:r>
            <a:r>
              <a:rPr lang="en-US" sz="1800" spc="1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16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fragments</a:t>
            </a:r>
            <a:r>
              <a:rPr lang="en-US" sz="1800" spc="1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created</a:t>
            </a:r>
            <a:r>
              <a:rPr lang="en-US" sz="1800" spc="1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16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15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total </a:t>
            </a:r>
            <a:r>
              <a:rPr lang="en-US" sz="1800" dirty="0">
                <a:latin typeface="Times New Roman"/>
                <a:cs typeface="Times New Roman"/>
              </a:rPr>
              <a:t>header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overhead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introduced.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Explain how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 Network Layer</a:t>
            </a:r>
            <a:r>
              <a:rPr lang="en-US" sz="1800" spc="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ensures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successful </a:t>
            </a:r>
            <a:r>
              <a:rPr lang="en-US" sz="1800" dirty="0">
                <a:latin typeface="Times New Roman"/>
                <a:cs typeface="Times New Roman"/>
              </a:rPr>
              <a:t>delivery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fragmented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packets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to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destination.</a:t>
            </a:r>
          </a:p>
          <a:p>
            <a:pPr algn="just">
              <a:lnSpc>
                <a:spcPct val="150000"/>
              </a:lnSpc>
            </a:pPr>
            <a:r>
              <a:rPr lang="en-US" spc="-10" dirty="0">
                <a:latin typeface="Times New Roman"/>
                <a:cs typeface="Times New Roman"/>
              </a:rPr>
              <a:t>Solution:</a:t>
            </a:r>
          </a:p>
          <a:p>
            <a:pPr algn="just">
              <a:lnSpc>
                <a:spcPct val="150000"/>
              </a:lnSpc>
            </a:pPr>
            <a:endParaRPr lang="en-US" sz="1800" spc="-10" dirty="0">
              <a:latin typeface="Times New Roman"/>
              <a:cs typeface="Times New Roman"/>
            </a:endParaRPr>
          </a:p>
          <a:p>
            <a:r>
              <a:rPr lang="en-IN" dirty="0"/>
              <a:t>IP Fragmentation</a:t>
            </a:r>
          </a:p>
          <a:p>
            <a:endParaRPr lang="en-IN" b="1" dirty="0"/>
          </a:p>
          <a:p>
            <a:r>
              <a:rPr lang="en-IN" dirty="0"/>
              <a:t>IP packet = </a:t>
            </a:r>
            <a:r>
              <a:rPr lang="en-IN" b="1" dirty="0"/>
              <a:t>12,000 bytes</a:t>
            </a:r>
            <a:r>
              <a:rPr lang="en-IN" dirty="0"/>
              <a:t> </a:t>
            </a:r>
          </a:p>
          <a:p>
            <a:r>
              <a:rPr lang="en-IN" dirty="0"/>
              <a:t>MTU = </a:t>
            </a:r>
            <a:r>
              <a:rPr lang="en-IN" b="1" dirty="0"/>
              <a:t>1500 bytes</a:t>
            </a:r>
            <a:r>
              <a:rPr lang="en-IN" dirty="0"/>
              <a:t> </a:t>
            </a:r>
          </a:p>
          <a:p>
            <a:r>
              <a:rPr lang="en-IN" dirty="0"/>
              <a:t>Payload per fragment = </a:t>
            </a:r>
            <a:r>
              <a:rPr lang="en-IN" b="1" dirty="0"/>
              <a:t>1500 − 20 = 1480 bytes</a:t>
            </a:r>
            <a:r>
              <a:rPr lang="en-IN" dirty="0"/>
              <a:t> </a:t>
            </a:r>
          </a:p>
          <a:p>
            <a:r>
              <a:rPr lang="en-IN" dirty="0"/>
              <a:t>Fragments = </a:t>
            </a:r>
            <a:r>
              <a:rPr lang="en-IN" b="1" dirty="0"/>
              <a:t>⌈12000 ÷ 1480⌉ = 9</a:t>
            </a:r>
            <a:r>
              <a:rPr lang="en-IN" dirty="0"/>
              <a:t> </a:t>
            </a:r>
          </a:p>
          <a:p>
            <a:r>
              <a:rPr lang="en-IN" dirty="0"/>
              <a:t>Header overhead = </a:t>
            </a:r>
            <a:r>
              <a:rPr lang="en-IN" b="1" dirty="0"/>
              <a:t>9 × 20 = 180 bytes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Explanation:</a:t>
            </a:r>
            <a:r>
              <a:rPr lang="en-IN" dirty="0"/>
              <a:t> The Network Layer fragments packets when needed and reassembles them at the destination for successful delivery.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/>
              <a:cs typeface="Times New Roman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31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837FCF-DFE9-61DF-EDA1-F79339B51CDE}"/>
              </a:ext>
            </a:extLst>
          </p:cNvPr>
          <p:cNvSpPr txBox="1"/>
          <p:nvPr/>
        </p:nvSpPr>
        <p:spPr>
          <a:xfrm>
            <a:off x="501650" y="393700"/>
            <a:ext cx="6553200" cy="961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4. A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protocol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uses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17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sliding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window</a:t>
            </a:r>
            <a:r>
              <a:rPr lang="en-US" sz="1400" b="1" spc="14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size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of</a:t>
            </a:r>
            <a:r>
              <a:rPr lang="en-US" sz="1400" b="1" spc="1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6</a:t>
            </a:r>
            <a:r>
              <a:rPr lang="en-US" sz="1400" b="1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frames</a:t>
            </a:r>
            <a:r>
              <a:rPr lang="en-US" sz="1400" dirty="0">
                <a:latin typeface="Times New Roman"/>
                <a:cs typeface="Times New Roman"/>
              </a:rPr>
              <a:t>.</a:t>
            </a:r>
            <a:r>
              <a:rPr lang="en-US" sz="1400" spc="125" dirty="0">
                <a:latin typeface="Times New Roman"/>
                <a:cs typeface="Times New Roman"/>
              </a:rPr>
              <a:t> </a:t>
            </a:r>
            <a:r>
              <a:rPr lang="en-US" sz="1400" spc="-20" dirty="0">
                <a:latin typeface="Times New Roman"/>
                <a:cs typeface="Times New Roman"/>
              </a:rPr>
              <a:t>Each </a:t>
            </a:r>
            <a:r>
              <a:rPr lang="en-US" sz="1400" dirty="0">
                <a:latin typeface="Times New Roman"/>
                <a:cs typeface="Times New Roman"/>
              </a:rPr>
              <a:t>frame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carries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1024</a:t>
            </a:r>
            <a:r>
              <a:rPr lang="en-US" sz="1400" b="1" spc="-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b="1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user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data.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If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sender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48</a:t>
            </a:r>
            <a:r>
              <a:rPr lang="en-US" sz="1400" b="1" spc="-6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frames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-7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calculate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windows</a:t>
            </a:r>
            <a:r>
              <a:rPr lang="en-US" sz="1400" spc="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required.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If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one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every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window</a:t>
            </a:r>
            <a:r>
              <a:rPr lang="en-US" sz="1400" spc="6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is </a:t>
            </a:r>
            <a:r>
              <a:rPr lang="en-US" sz="1400" dirty="0">
                <a:latin typeface="Times New Roman"/>
                <a:cs typeface="Times New Roman"/>
              </a:rPr>
              <a:t>lost</a:t>
            </a:r>
            <a:r>
              <a:rPr lang="en-US" sz="1400" spc="1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must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retransmitted,</a:t>
            </a:r>
            <a:r>
              <a:rPr lang="en-US" sz="1400" spc="1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determine</a:t>
            </a:r>
            <a:r>
              <a:rPr lang="en-US" sz="1400" spc="1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retransmissions.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flow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control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improves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communication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efficiency.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dirty="0"/>
              <a:t>Sliding Window </a:t>
            </a:r>
          </a:p>
          <a:p>
            <a:endParaRPr lang="en-IN" sz="1400" dirty="0"/>
          </a:p>
          <a:p>
            <a:r>
              <a:rPr lang="en-IN" sz="1400" dirty="0"/>
              <a:t>Transmission windows = </a:t>
            </a:r>
            <a:r>
              <a:rPr lang="en-IN" sz="1400" b="1" dirty="0"/>
              <a:t>8</a:t>
            </a:r>
            <a:r>
              <a:rPr lang="en-IN" sz="1400" dirty="0"/>
              <a:t> </a:t>
            </a:r>
          </a:p>
          <a:p>
            <a:r>
              <a:rPr lang="en-IN" sz="1400" dirty="0"/>
              <a:t>Retransmissions = </a:t>
            </a:r>
            <a:r>
              <a:rPr lang="en-IN" sz="1400" b="1" dirty="0"/>
              <a:t>8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Flow control balances the transmission speed between sender and receiver, improving communication reliability.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5. A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multimedia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application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transfers</a:t>
            </a:r>
            <a:r>
              <a:rPr lang="en-US" sz="1400" spc="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1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600</a:t>
            </a:r>
            <a:r>
              <a:rPr lang="en-US" sz="1400" b="1" spc="9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</a:t>
            </a:r>
            <a:r>
              <a:rPr lang="en-US" sz="1400" b="1" spc="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video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file.</a:t>
            </a:r>
            <a:r>
              <a:rPr lang="en-US" sz="1400" spc="8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Session</a:t>
            </a:r>
            <a:r>
              <a:rPr lang="en-US" sz="1400" spc="9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 </a:t>
            </a:r>
            <a:r>
              <a:rPr lang="en-US" sz="1400" dirty="0">
                <a:latin typeface="Times New Roman"/>
                <a:cs typeface="Times New Roman"/>
              </a:rPr>
              <a:t>inserts</a:t>
            </a:r>
            <a:r>
              <a:rPr lang="en-US" sz="1400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synchronization</a:t>
            </a:r>
            <a:r>
              <a:rPr lang="en-US" sz="1400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checkpoint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after</a:t>
            </a:r>
            <a:r>
              <a:rPr lang="en-US" sz="1400" spc="2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every</a:t>
            </a:r>
            <a:r>
              <a:rPr lang="en-US" sz="1400" spc="30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60</a:t>
            </a:r>
            <a:r>
              <a:rPr lang="en-US" sz="1400" b="1" spc="26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</a:t>
            </a:r>
            <a:r>
              <a:rPr lang="en-US" sz="1400" b="1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transmitted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data. </a:t>
            </a:r>
            <a:r>
              <a:rPr lang="en-US" sz="1400" dirty="0">
                <a:latin typeface="Times New Roman"/>
                <a:cs typeface="Times New Roman"/>
              </a:rPr>
              <a:t>During</a:t>
            </a:r>
            <a:r>
              <a:rPr lang="en-US" sz="1400" spc="4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transmission,</a:t>
            </a:r>
            <a:r>
              <a:rPr lang="en-US" sz="1400" spc="4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4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failure</a:t>
            </a:r>
            <a:r>
              <a:rPr lang="en-US" sz="1400" spc="4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occurs</a:t>
            </a:r>
            <a:r>
              <a:rPr lang="en-US" sz="1400" spc="434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after</a:t>
            </a:r>
            <a:r>
              <a:rPr lang="en-US" sz="1400" spc="4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390</a:t>
            </a:r>
            <a:r>
              <a:rPr lang="en-US" sz="1400" b="1" spc="44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</a:t>
            </a:r>
            <a:r>
              <a:rPr lang="en-US" sz="1400" b="1" spc="4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has</a:t>
            </a:r>
            <a:r>
              <a:rPr lang="en-US" sz="1400" spc="434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been</a:t>
            </a:r>
            <a:r>
              <a:rPr lang="en-US" sz="1400" spc="44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transferred. </a:t>
            </a:r>
            <a:r>
              <a:rPr lang="en-US" sz="1400" dirty="0">
                <a:latin typeface="Times New Roman"/>
                <a:cs typeface="Times New Roman"/>
              </a:rPr>
              <a:t>Determine</a:t>
            </a:r>
            <a:r>
              <a:rPr lang="en-US" sz="1400" spc="1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1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1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17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checkpoints</a:t>
            </a:r>
            <a:r>
              <a:rPr lang="en-US" sz="1400" spc="1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created</a:t>
            </a:r>
            <a:r>
              <a:rPr lang="en-US" sz="1400" spc="1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before</a:t>
            </a:r>
            <a:r>
              <a:rPr lang="en-US" sz="1400" spc="17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failure</a:t>
            </a:r>
            <a:r>
              <a:rPr lang="en-US" sz="1400" spc="1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18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calculate</a:t>
            </a:r>
            <a:r>
              <a:rPr lang="en-US" sz="1400" spc="16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the </a:t>
            </a:r>
            <a:r>
              <a:rPr lang="en-US" sz="1400" dirty="0">
                <a:latin typeface="Times New Roman"/>
                <a:cs typeface="Times New Roman"/>
              </a:rPr>
              <a:t>amount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that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must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retransmitted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after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recovery.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importance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synchronization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Session </a:t>
            </a:r>
            <a:r>
              <a:rPr lang="en-US" sz="1400" spc="-10" dirty="0">
                <a:latin typeface="Times New Roman"/>
                <a:cs typeface="Times New Roman"/>
              </a:rPr>
              <a:t>Layer.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b="1" dirty="0"/>
              <a:t>Session Layer</a:t>
            </a:r>
          </a:p>
          <a:p>
            <a:endParaRPr lang="en-IN" sz="1400" b="1" dirty="0"/>
          </a:p>
          <a:p>
            <a:r>
              <a:rPr lang="en-IN" sz="1400" dirty="0"/>
              <a:t>File size = </a:t>
            </a:r>
            <a:r>
              <a:rPr lang="en-IN" sz="1400" b="1" dirty="0"/>
              <a:t>600 MB</a:t>
            </a:r>
            <a:r>
              <a:rPr lang="en-IN" sz="1400" dirty="0"/>
              <a:t> </a:t>
            </a:r>
          </a:p>
          <a:p>
            <a:r>
              <a:rPr lang="en-IN" sz="1400" dirty="0"/>
              <a:t>Checkpoint every </a:t>
            </a:r>
            <a:r>
              <a:rPr lang="en-IN" sz="1400" b="1" dirty="0"/>
              <a:t>60 MB</a:t>
            </a:r>
            <a:r>
              <a:rPr lang="en-IN" sz="1400" dirty="0"/>
              <a:t> </a:t>
            </a:r>
          </a:p>
          <a:p>
            <a:r>
              <a:rPr lang="en-IN" sz="1400" dirty="0"/>
              <a:t>Failure after </a:t>
            </a:r>
            <a:r>
              <a:rPr lang="en-IN" sz="1400" b="1" dirty="0"/>
              <a:t>390 MB</a:t>
            </a:r>
            <a:r>
              <a:rPr lang="en-IN" sz="1400" dirty="0"/>
              <a:t> </a:t>
            </a:r>
          </a:p>
          <a:p>
            <a:r>
              <a:rPr lang="en-IN" sz="1400" dirty="0"/>
              <a:t>Checkpoints before failure = </a:t>
            </a:r>
            <a:r>
              <a:rPr lang="en-IN" sz="1400" b="1" dirty="0"/>
              <a:t>6</a:t>
            </a:r>
            <a:r>
              <a:rPr lang="en-IN" sz="1400" dirty="0"/>
              <a:t> (60,120,180,240,300,360) </a:t>
            </a:r>
          </a:p>
          <a:p>
            <a:r>
              <a:rPr lang="en-IN" sz="1400" dirty="0"/>
              <a:t>Data to retransmit = </a:t>
            </a:r>
            <a:r>
              <a:rPr lang="en-IN" sz="1400" b="1" dirty="0"/>
              <a:t>390 − 360 = 30 MB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Synchronization checkpoints allow transmission to resume from the last checkpoint instead of restarting the entire transfer.</a:t>
            </a: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600"/>
              </a:lnSpc>
              <a:tabLst>
                <a:tab pos="234315" algn="l"/>
              </a:tabLst>
            </a:pPr>
            <a:endParaRPr lang="en-US" sz="1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830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29853-0874-13F5-9DC3-CCE172576E71}"/>
              </a:ext>
            </a:extLst>
          </p:cNvPr>
          <p:cNvSpPr txBox="1"/>
          <p:nvPr/>
        </p:nvSpPr>
        <p:spPr>
          <a:xfrm>
            <a:off x="501650" y="393700"/>
            <a:ext cx="6553200" cy="10070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6. Before</a:t>
            </a:r>
            <a:r>
              <a:rPr lang="en-US" sz="1400" spc="-7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transmission,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the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Presentation</a:t>
            </a:r>
            <a:r>
              <a:rPr lang="en-US" sz="1400" spc="-7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compresses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900</a:t>
            </a:r>
            <a:r>
              <a:rPr lang="en-US" sz="1400" b="1" spc="-75" dirty="0"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latin typeface="Times New Roman"/>
                <a:cs typeface="Times New Roman"/>
              </a:rPr>
              <a:t>MB</a:t>
            </a:r>
            <a:r>
              <a:rPr lang="en-US" sz="1400" b="1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file</a:t>
            </a:r>
            <a:r>
              <a:rPr lang="en-US" sz="1400" spc="-8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by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latin typeface="Times New Roman"/>
                <a:cs typeface="Times New Roman"/>
              </a:rPr>
              <a:t>40%</a:t>
            </a:r>
            <a:r>
              <a:rPr lang="en-US" sz="1400" spc="-20" dirty="0">
                <a:latin typeface="Times New Roman"/>
                <a:cs typeface="Times New Roman"/>
              </a:rPr>
              <a:t>.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compressed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is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encrypted,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adding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5%</a:t>
            </a:r>
            <a:r>
              <a:rPr lang="en-US" sz="1400" b="1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overhead</a:t>
            </a:r>
            <a:r>
              <a:rPr lang="en-US" sz="1400" spc="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compressed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size. Calculate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compressed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file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size,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encrypted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file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size,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and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total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percentage </a:t>
            </a:r>
            <a:r>
              <a:rPr lang="en-US" sz="1400" dirty="0">
                <a:latin typeface="Times New Roman"/>
                <a:cs typeface="Times New Roman"/>
              </a:rPr>
              <a:t>reduction</a:t>
            </a:r>
            <a:r>
              <a:rPr lang="en-US" sz="1400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compared</a:t>
            </a:r>
            <a:r>
              <a:rPr lang="en-US" sz="1400" spc="254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original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file.</a:t>
            </a:r>
            <a:r>
              <a:rPr lang="en-US" sz="1400" spc="2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Presentation</a:t>
            </a:r>
            <a:r>
              <a:rPr lang="en-US" sz="1400" spc="27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 </a:t>
            </a:r>
            <a:r>
              <a:rPr lang="en-US" sz="1400" dirty="0">
                <a:latin typeface="Times New Roman"/>
                <a:cs typeface="Times New Roman"/>
              </a:rPr>
              <a:t>improves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efficiency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security.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b="1" dirty="0"/>
              <a:t>Presentation Layer</a:t>
            </a:r>
          </a:p>
          <a:p>
            <a:endParaRPr lang="en-IN" sz="1400" b="1" dirty="0"/>
          </a:p>
          <a:p>
            <a:r>
              <a:rPr lang="en-IN" sz="1400" dirty="0"/>
              <a:t>Original size = </a:t>
            </a:r>
            <a:r>
              <a:rPr lang="en-IN" sz="1400" b="1" dirty="0"/>
              <a:t>900 MB</a:t>
            </a:r>
            <a:r>
              <a:rPr lang="en-IN" sz="1400" dirty="0"/>
              <a:t> </a:t>
            </a:r>
          </a:p>
          <a:p>
            <a:r>
              <a:rPr lang="en-IN" sz="1400" dirty="0"/>
              <a:t>Compression = </a:t>
            </a:r>
            <a:r>
              <a:rPr lang="en-IN" sz="1400" b="1" dirty="0"/>
              <a:t>40%</a:t>
            </a:r>
            <a:r>
              <a:rPr lang="en-IN" sz="1400" dirty="0"/>
              <a:t> </a:t>
            </a:r>
          </a:p>
          <a:p>
            <a:r>
              <a:rPr lang="en-IN" sz="1400" dirty="0"/>
              <a:t>Compressed size = </a:t>
            </a:r>
            <a:r>
              <a:rPr lang="en-IN" sz="1400" b="1" dirty="0"/>
              <a:t>540 MB</a:t>
            </a:r>
            <a:r>
              <a:rPr lang="en-IN" sz="1400" dirty="0"/>
              <a:t> </a:t>
            </a:r>
          </a:p>
          <a:p>
            <a:r>
              <a:rPr lang="en-IN" sz="1400" dirty="0"/>
              <a:t>Encryption overhead = </a:t>
            </a:r>
            <a:r>
              <a:rPr lang="en-IN" sz="1400" b="1" dirty="0"/>
              <a:t>5% of 540 = 27 MB</a:t>
            </a:r>
            <a:r>
              <a:rPr lang="en-IN" sz="1400" dirty="0"/>
              <a:t> </a:t>
            </a:r>
          </a:p>
          <a:p>
            <a:r>
              <a:rPr lang="en-IN" sz="1400" dirty="0"/>
              <a:t>Encrypted size = </a:t>
            </a:r>
            <a:r>
              <a:rPr lang="en-IN" sz="1400" b="1" dirty="0"/>
              <a:t>567 MB</a:t>
            </a:r>
            <a:r>
              <a:rPr lang="en-IN" sz="1400" dirty="0"/>
              <a:t> </a:t>
            </a:r>
          </a:p>
          <a:p>
            <a:r>
              <a:rPr lang="en-IN" sz="1400" dirty="0"/>
              <a:t>Reduction = ((900 − 567) ÷ 900) × 100 = </a:t>
            </a:r>
            <a:r>
              <a:rPr lang="en-IN" sz="1400" b="1" dirty="0"/>
              <a:t>37%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The Presentation Layer compresses data to reduce transmission size and encrypts it to ensure security.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7. An</a:t>
            </a:r>
            <a:r>
              <a:rPr lang="en-US" sz="1400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FTP</a:t>
            </a:r>
            <a:r>
              <a:rPr lang="en-US" sz="1400" spc="114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application</a:t>
            </a:r>
            <a:r>
              <a:rPr lang="en-US" sz="1400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transfers</a:t>
            </a:r>
            <a:r>
              <a:rPr lang="en-US" sz="1400" spc="1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3</a:t>
            </a:r>
            <a:r>
              <a:rPr lang="en-US" sz="1400" b="1" spc="1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GB</a:t>
            </a:r>
            <a:r>
              <a:rPr lang="en-US" sz="1400" b="1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10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</a:t>
            </a:r>
            <a:r>
              <a:rPr lang="en-US" sz="1400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10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network</a:t>
            </a:r>
            <a:r>
              <a:rPr lang="en-US" sz="1400" spc="1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with</a:t>
            </a:r>
            <a:r>
              <a:rPr lang="en-US" sz="1400" spc="1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</a:t>
            </a:r>
            <a:r>
              <a:rPr lang="en-US" sz="1400" spc="114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effective </a:t>
            </a:r>
            <a:r>
              <a:rPr lang="en-US" sz="1400" dirty="0">
                <a:latin typeface="Times New Roman"/>
                <a:cs typeface="Times New Roman"/>
              </a:rPr>
              <a:t>throughput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120</a:t>
            </a:r>
            <a:r>
              <a:rPr lang="en-US" sz="1400" b="1" spc="-3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Mbps</a:t>
            </a:r>
            <a:r>
              <a:rPr lang="en-US" sz="1400" dirty="0">
                <a:latin typeface="Times New Roman"/>
                <a:cs typeface="Times New Roman"/>
              </a:rPr>
              <a:t>.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Application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divides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into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requests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of </a:t>
            </a:r>
            <a:r>
              <a:rPr lang="en-US" sz="1400" b="1" dirty="0">
                <a:latin typeface="Times New Roman"/>
                <a:cs typeface="Times New Roman"/>
              </a:rPr>
              <a:t>3</a:t>
            </a:r>
            <a:r>
              <a:rPr lang="en-US" sz="1400" b="1" spc="-45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MB</a:t>
            </a:r>
            <a:r>
              <a:rPr lang="en-US" sz="1400" b="1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each.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20" dirty="0">
                <a:latin typeface="Times New Roman"/>
                <a:cs typeface="Times New Roman"/>
              </a:rPr>
              <a:t>Calculate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the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total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number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requests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generated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and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estimate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total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3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time</a:t>
            </a:r>
            <a:r>
              <a:rPr lang="en-US" sz="1400" spc="3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</a:t>
            </a:r>
            <a:r>
              <a:rPr lang="en-US" sz="1400" spc="3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seconds.</a:t>
            </a:r>
            <a:r>
              <a:rPr lang="en-US" sz="1400" spc="3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Discuss</a:t>
            </a:r>
            <a:r>
              <a:rPr lang="en-US" sz="1400" spc="3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3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3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Application</a:t>
            </a:r>
            <a:r>
              <a:rPr lang="en-US" sz="1400" spc="3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3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provides </a:t>
            </a:r>
            <a:r>
              <a:rPr lang="en-US" sz="1400" dirty="0">
                <a:latin typeface="Times New Roman"/>
                <a:cs typeface="Times New Roman"/>
              </a:rPr>
              <a:t>reliable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services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users.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b="1" dirty="0"/>
              <a:t>FTP Transfer</a:t>
            </a:r>
          </a:p>
          <a:p>
            <a:endParaRPr lang="en-IN" sz="1400" b="1" dirty="0"/>
          </a:p>
          <a:p>
            <a:r>
              <a:rPr lang="en-IN" sz="1400" dirty="0"/>
              <a:t>Data = </a:t>
            </a:r>
            <a:r>
              <a:rPr lang="en-IN" sz="1400" b="1" dirty="0"/>
              <a:t>3 GB = 3000 MB</a:t>
            </a:r>
            <a:r>
              <a:rPr lang="en-IN" sz="1400" dirty="0"/>
              <a:t> </a:t>
            </a:r>
          </a:p>
          <a:p>
            <a:r>
              <a:rPr lang="en-IN" sz="1400" dirty="0"/>
              <a:t>Request size = </a:t>
            </a:r>
            <a:r>
              <a:rPr lang="en-IN" sz="1400" b="1" dirty="0"/>
              <a:t>3 MB</a:t>
            </a:r>
            <a:r>
              <a:rPr lang="en-IN" sz="1400" dirty="0"/>
              <a:t> </a:t>
            </a:r>
          </a:p>
          <a:p>
            <a:r>
              <a:rPr lang="en-IN" sz="1400" dirty="0"/>
              <a:t>Requests = </a:t>
            </a:r>
            <a:r>
              <a:rPr lang="en-IN" sz="1400" b="1" dirty="0"/>
              <a:t>3000 ÷ 3 = 1000</a:t>
            </a:r>
            <a:r>
              <a:rPr lang="en-IN" sz="1400" dirty="0"/>
              <a:t> </a:t>
            </a:r>
          </a:p>
          <a:p>
            <a:r>
              <a:rPr lang="en-IN" sz="1400" dirty="0"/>
              <a:t>Data in Mb = </a:t>
            </a:r>
            <a:r>
              <a:rPr lang="en-IN" sz="1400" b="1" dirty="0"/>
              <a:t>24,000 Mb</a:t>
            </a:r>
            <a:r>
              <a:rPr lang="en-IN" sz="1400" dirty="0"/>
              <a:t> </a:t>
            </a:r>
          </a:p>
          <a:p>
            <a:r>
              <a:rPr lang="en-IN" sz="1400" dirty="0"/>
              <a:t>Throughput = </a:t>
            </a:r>
            <a:r>
              <a:rPr lang="en-IN" sz="1400" b="1" dirty="0"/>
              <a:t>120 Mbps</a:t>
            </a:r>
            <a:r>
              <a:rPr lang="en-IN" sz="1400" dirty="0"/>
              <a:t> </a:t>
            </a:r>
          </a:p>
          <a:p>
            <a:r>
              <a:rPr lang="en-IN" sz="1400" dirty="0"/>
              <a:t>Transmission time = </a:t>
            </a:r>
            <a:r>
              <a:rPr lang="en-IN" sz="1400" b="1" dirty="0"/>
              <a:t>24,000 ÷ 120 = 200 seconds</a:t>
            </a:r>
          </a:p>
          <a:p>
            <a:r>
              <a:rPr lang="en-IN" sz="1400" dirty="0"/>
              <a:t> </a:t>
            </a:r>
          </a:p>
          <a:p>
            <a:r>
              <a:rPr lang="en-IN" sz="1400" b="1" dirty="0"/>
              <a:t>Explanation:</a:t>
            </a:r>
            <a:r>
              <a:rPr lang="en-IN" sz="1400" dirty="0"/>
              <a:t> The Application Layer provides user services such as FTP, manages file transfers, and ensures reliable communication.</a:t>
            </a: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endParaRPr lang="en-US"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tabLst>
                <a:tab pos="19939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380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6247D-D73F-0243-698F-F8FCA1F48D13}"/>
              </a:ext>
            </a:extLst>
          </p:cNvPr>
          <p:cNvSpPr txBox="1"/>
          <p:nvPr/>
        </p:nvSpPr>
        <p:spPr>
          <a:xfrm>
            <a:off x="539750" y="241300"/>
            <a:ext cx="6477000" cy="1121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marR="5080" algn="just">
              <a:lnSpc>
                <a:spcPct val="143700"/>
              </a:lnSpc>
              <a:spcBef>
                <a:spcPts val="5"/>
              </a:spcBef>
              <a:buSzPct val="92857"/>
              <a:tabLst>
                <a:tab pos="16129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8. A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packet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experiences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following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processing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delays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at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different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OSI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layers: </a:t>
            </a:r>
            <a:r>
              <a:rPr lang="en-US" sz="1400" dirty="0">
                <a:latin typeface="Times New Roman"/>
                <a:cs typeface="Times New Roman"/>
              </a:rPr>
              <a:t>Application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=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4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=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3</a:t>
            </a:r>
            <a:r>
              <a:rPr lang="en-US" sz="1400" b="1" spc="-5" dirty="0">
                <a:latin typeface="Times New Roman"/>
                <a:cs typeface="Times New Roman"/>
              </a:rPr>
              <a:t>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Network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=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5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-20" dirty="0">
                <a:latin typeface="Times New Roman"/>
                <a:cs typeface="Times New Roman"/>
              </a:rPr>
              <a:t> Data </a:t>
            </a:r>
            <a:r>
              <a:rPr lang="en-US" sz="1400" dirty="0">
                <a:latin typeface="Times New Roman"/>
                <a:cs typeface="Times New Roman"/>
              </a:rPr>
              <a:t>Link Layer =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2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>
                <a:latin typeface="Times New Roman"/>
                <a:cs typeface="Times New Roman"/>
              </a:rPr>
              <a:t>, and Physical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=</a:t>
            </a:r>
            <a:r>
              <a:rPr lang="en-US" sz="1400" spc="2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 err="1">
                <a:latin typeface="Times New Roman"/>
                <a:cs typeface="Times New Roman"/>
              </a:rPr>
              <a:t>.</a:t>
            </a:r>
            <a:r>
              <a:rPr lang="en-US" sz="1400" dirty="0">
                <a:latin typeface="Times New Roman"/>
                <a:cs typeface="Times New Roman"/>
              </a:rPr>
              <a:t> The propagation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delay is</a:t>
            </a:r>
            <a:r>
              <a:rPr lang="en-US" sz="1400" spc="1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18</a:t>
            </a:r>
            <a:r>
              <a:rPr lang="en-US" sz="1400" b="1" spc="5" dirty="0">
                <a:latin typeface="Times New Roman"/>
                <a:cs typeface="Times New Roman"/>
              </a:rPr>
              <a:t> </a:t>
            </a:r>
            <a:r>
              <a:rPr lang="en-US" sz="1400" b="1" spc="-25" dirty="0" err="1">
                <a:latin typeface="Times New Roman"/>
                <a:cs typeface="Times New Roman"/>
              </a:rPr>
              <a:t>ms</a:t>
            </a:r>
            <a:r>
              <a:rPr lang="en-US" sz="1400" spc="-25" dirty="0">
                <a:latin typeface="Times New Roman"/>
                <a:cs typeface="Times New Roman"/>
              </a:rPr>
              <a:t>,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40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3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3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delay</a:t>
            </a:r>
            <a:r>
              <a:rPr lang="en-US" sz="1400" spc="4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is</a:t>
            </a:r>
            <a:r>
              <a:rPr lang="en-US" sz="1400" spc="42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12</a:t>
            </a:r>
            <a:r>
              <a:rPr lang="en-US" sz="1400" b="1" spc="395" dirty="0">
                <a:latin typeface="Times New Roman"/>
                <a:cs typeface="Times New Roman"/>
              </a:rPr>
              <a:t> </a:t>
            </a:r>
            <a:r>
              <a:rPr lang="en-US" sz="1400" b="1" dirty="0" err="1">
                <a:latin typeface="Times New Roman"/>
                <a:cs typeface="Times New Roman"/>
              </a:rPr>
              <a:t>ms</a:t>
            </a:r>
            <a:r>
              <a:rPr lang="en-US" sz="1400" dirty="0" err="1">
                <a:latin typeface="Times New Roman"/>
                <a:cs typeface="Times New Roman"/>
              </a:rPr>
              <a:t>.</a:t>
            </a:r>
            <a:r>
              <a:rPr lang="en-US" sz="1400" spc="3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Calculate</a:t>
            </a:r>
            <a:r>
              <a:rPr lang="en-US" sz="1400" spc="3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3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4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end-</a:t>
            </a:r>
            <a:r>
              <a:rPr lang="en-US" sz="1400" spc="-10" dirty="0">
                <a:latin typeface="Times New Roman"/>
                <a:cs typeface="Times New Roman"/>
              </a:rPr>
              <a:t>to-</a:t>
            </a:r>
            <a:r>
              <a:rPr lang="en-US" sz="1400" dirty="0">
                <a:latin typeface="Times New Roman"/>
                <a:cs typeface="Times New Roman"/>
              </a:rPr>
              <a:t>end</a:t>
            </a:r>
            <a:r>
              <a:rPr lang="en-US" sz="1400" spc="39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delay </a:t>
            </a:r>
            <a:r>
              <a:rPr lang="en-US" sz="1400" dirty="0">
                <a:latin typeface="Times New Roman"/>
                <a:cs typeface="Times New Roman"/>
              </a:rPr>
              <a:t>experienced</a:t>
            </a:r>
            <a:r>
              <a:rPr lang="en-US" sz="1400" spc="4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by</a:t>
            </a:r>
            <a:r>
              <a:rPr lang="en-US" sz="1400" spc="4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4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packet</a:t>
            </a:r>
            <a:r>
              <a:rPr lang="en-US" sz="1400" spc="4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4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4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4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each</a:t>
            </a:r>
            <a:r>
              <a:rPr lang="en-US" sz="1400" spc="4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4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contributes</a:t>
            </a:r>
            <a:r>
              <a:rPr lang="en-US" sz="1400" spc="4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430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the </a:t>
            </a:r>
            <a:r>
              <a:rPr lang="en-US" sz="1400" dirty="0">
                <a:latin typeface="Times New Roman"/>
                <a:cs typeface="Times New Roman"/>
              </a:rPr>
              <a:t>communication</a:t>
            </a:r>
            <a:r>
              <a:rPr lang="en-US" sz="1400" spc="-8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process.</a:t>
            </a:r>
          </a:p>
          <a:p>
            <a:pPr marL="635" marR="5080" algn="just">
              <a:lnSpc>
                <a:spcPct val="143700"/>
              </a:lnSpc>
              <a:spcBef>
                <a:spcPts val="5"/>
              </a:spcBef>
              <a:buSzPct val="92857"/>
              <a:tabLst>
                <a:tab pos="161290" algn="l"/>
              </a:tabLst>
            </a:pPr>
            <a:r>
              <a:rPr lang="en-US" sz="1400" spc="-10" dirty="0">
                <a:latin typeface="Times New Roman"/>
                <a:cs typeface="Times New Roman"/>
              </a:rPr>
              <a:t>Solutions:</a:t>
            </a:r>
          </a:p>
          <a:p>
            <a:pPr marL="635" marR="5080" algn="just">
              <a:lnSpc>
                <a:spcPct val="143700"/>
              </a:lnSpc>
              <a:spcBef>
                <a:spcPts val="5"/>
              </a:spcBef>
              <a:buSzPct val="92857"/>
              <a:tabLst>
                <a:tab pos="16129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b="1" dirty="0"/>
              <a:t>End-to-End Delay</a:t>
            </a:r>
          </a:p>
          <a:p>
            <a:endParaRPr lang="en-IN" sz="1400" b="1" dirty="0"/>
          </a:p>
          <a:p>
            <a:r>
              <a:rPr lang="en-IN" sz="1400" dirty="0"/>
              <a:t>Processing delays:</a:t>
            </a:r>
          </a:p>
          <a:p>
            <a:r>
              <a:rPr lang="en-IN" sz="1400" dirty="0"/>
              <a:t>Application = </a:t>
            </a:r>
            <a:r>
              <a:rPr lang="en-IN" sz="1400" b="1" dirty="0"/>
              <a:t>4 </a:t>
            </a:r>
            <a:r>
              <a:rPr lang="en-IN" sz="1400" b="1" dirty="0" err="1"/>
              <a:t>ms</a:t>
            </a:r>
            <a:r>
              <a:rPr lang="en-IN" sz="1400" dirty="0"/>
              <a:t> </a:t>
            </a:r>
          </a:p>
          <a:p>
            <a:r>
              <a:rPr lang="en-IN" sz="1400" dirty="0"/>
              <a:t>Transport = </a:t>
            </a:r>
            <a:r>
              <a:rPr lang="en-IN" sz="1400" b="1" dirty="0"/>
              <a:t>3 </a:t>
            </a:r>
            <a:r>
              <a:rPr lang="en-IN" sz="1400" b="1" dirty="0" err="1"/>
              <a:t>ms</a:t>
            </a:r>
            <a:r>
              <a:rPr lang="en-IN" sz="1400" dirty="0"/>
              <a:t> </a:t>
            </a:r>
          </a:p>
          <a:p>
            <a:r>
              <a:rPr lang="en-IN" sz="1400" dirty="0"/>
              <a:t>Network = </a:t>
            </a:r>
            <a:r>
              <a:rPr lang="en-IN" sz="1400" b="1" dirty="0"/>
              <a:t>5 </a:t>
            </a:r>
            <a:r>
              <a:rPr lang="en-IN" sz="1400" b="1" dirty="0" err="1"/>
              <a:t>ms</a:t>
            </a:r>
            <a:r>
              <a:rPr lang="en-IN" sz="1400" dirty="0"/>
              <a:t> </a:t>
            </a:r>
          </a:p>
          <a:p>
            <a:r>
              <a:rPr lang="en-IN" sz="1400" dirty="0"/>
              <a:t>Data Link = </a:t>
            </a:r>
            <a:r>
              <a:rPr lang="en-IN" sz="1400" b="1" dirty="0"/>
              <a:t>2 </a:t>
            </a:r>
            <a:r>
              <a:rPr lang="en-IN" sz="1400" b="1" dirty="0" err="1"/>
              <a:t>ms</a:t>
            </a:r>
            <a:r>
              <a:rPr lang="en-IN" sz="1400" dirty="0"/>
              <a:t> </a:t>
            </a:r>
          </a:p>
          <a:p>
            <a:r>
              <a:rPr lang="en-IN" sz="1400" dirty="0"/>
              <a:t>Physical = </a:t>
            </a:r>
            <a:r>
              <a:rPr lang="en-IN" sz="1400" b="1" dirty="0"/>
              <a:t>1 </a:t>
            </a:r>
            <a:r>
              <a:rPr lang="en-IN" sz="1400" b="1" dirty="0" err="1"/>
              <a:t>ms</a:t>
            </a:r>
            <a:r>
              <a:rPr lang="en-IN" sz="1400" dirty="0"/>
              <a:t> </a:t>
            </a:r>
          </a:p>
          <a:p>
            <a:r>
              <a:rPr lang="en-IN" sz="1400" dirty="0"/>
              <a:t>Total processing delay = </a:t>
            </a:r>
            <a:r>
              <a:rPr lang="en-IN" sz="1400" b="1" dirty="0"/>
              <a:t>15 </a:t>
            </a:r>
            <a:r>
              <a:rPr lang="en-IN" sz="1400" b="1" dirty="0" err="1"/>
              <a:t>ms</a:t>
            </a:r>
            <a:endParaRPr lang="en-IN" sz="1400" dirty="0"/>
          </a:p>
          <a:p>
            <a:r>
              <a:rPr lang="en-IN" sz="1400" dirty="0"/>
              <a:t>Propagation delay = </a:t>
            </a:r>
            <a:r>
              <a:rPr lang="en-IN" sz="1400" b="1" dirty="0"/>
              <a:t>18 </a:t>
            </a:r>
            <a:r>
              <a:rPr lang="en-IN" sz="1400" b="1" dirty="0" err="1"/>
              <a:t>ms</a:t>
            </a:r>
            <a:endParaRPr lang="en-IN" sz="1400" dirty="0"/>
          </a:p>
          <a:p>
            <a:r>
              <a:rPr lang="en-IN" sz="1400" dirty="0"/>
              <a:t>Transmission delay = </a:t>
            </a:r>
            <a:r>
              <a:rPr lang="en-IN" sz="1400" b="1" dirty="0"/>
              <a:t>12 </a:t>
            </a:r>
            <a:r>
              <a:rPr lang="en-IN" sz="1400" b="1" dirty="0" err="1"/>
              <a:t>ms</a:t>
            </a:r>
            <a:endParaRPr lang="en-IN" sz="1400" dirty="0"/>
          </a:p>
          <a:p>
            <a:r>
              <a:rPr lang="en-IN" sz="1400" b="1" dirty="0"/>
              <a:t>Total end-to-end delay = 15 + 18 + 12 = 45 </a:t>
            </a:r>
            <a:r>
              <a:rPr lang="en-IN" sz="1400" b="1" dirty="0" err="1"/>
              <a:t>ms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Each OSI layer performs a specific task, while transmission and propagation delays contribute to the total packet delay.</a:t>
            </a:r>
          </a:p>
          <a:p>
            <a:endParaRPr lang="en-IN" sz="1400" dirty="0"/>
          </a:p>
          <a:p>
            <a:endParaRPr lang="en-IN" sz="1400" dirty="0"/>
          </a:p>
          <a:p>
            <a:pPr marL="12700" marR="12065" algn="just">
              <a:lnSpc>
                <a:spcPct val="143600"/>
              </a:lnSpc>
              <a:spcBef>
                <a:spcPts val="95"/>
              </a:spcBef>
            </a:pPr>
            <a:r>
              <a:rPr lang="en-US" sz="1400" dirty="0">
                <a:latin typeface="Times New Roman"/>
                <a:cs typeface="Times New Roman"/>
              </a:rPr>
              <a:t>9. A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network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transfers</a:t>
            </a:r>
            <a:r>
              <a:rPr lang="en-US" sz="1400" spc="7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80</a:t>
            </a:r>
            <a:r>
              <a:rPr lang="en-US" sz="1400" b="1" spc="5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MB</a:t>
            </a:r>
            <a:r>
              <a:rPr lang="en-US" sz="1400" b="1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useful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using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frames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6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1600</a:t>
            </a:r>
            <a:r>
              <a:rPr lang="en-US" sz="1400" b="1" spc="5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where </a:t>
            </a:r>
            <a:r>
              <a:rPr lang="en-US" sz="1400" dirty="0">
                <a:latin typeface="Times New Roman"/>
                <a:cs typeface="Times New Roman"/>
              </a:rPr>
              <a:t>each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contains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80</a:t>
            </a:r>
            <a:r>
              <a:rPr lang="en-US" sz="1400" b="1" spc="-4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b="1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protocol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overhead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added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by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different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OSI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layers. Calculate</a:t>
            </a:r>
            <a:r>
              <a:rPr lang="en-US" sz="1400" spc="-7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required,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overhead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transmitted,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and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2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transmission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efficiency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as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</a:t>
            </a:r>
            <a:r>
              <a:rPr lang="en-US" sz="1400" spc="2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percentage.</a:t>
            </a:r>
            <a:r>
              <a:rPr lang="en-US" sz="1400" spc="28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protocol</a:t>
            </a:r>
            <a:r>
              <a:rPr lang="en-US" sz="1400" spc="29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overhead </a:t>
            </a:r>
            <a:r>
              <a:rPr lang="en-US" sz="1400" dirty="0">
                <a:latin typeface="Times New Roman"/>
                <a:cs typeface="Times New Roman"/>
              </a:rPr>
              <a:t>affects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network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performance.</a:t>
            </a:r>
            <a:endParaRPr lang="en-US" sz="1400" dirty="0">
              <a:latin typeface="Times New Roman"/>
              <a:cs typeface="Times New Roman"/>
            </a:endParaRPr>
          </a:p>
          <a:p>
            <a:pPr algn="just"/>
            <a:r>
              <a:rPr lang="en-US" sz="1400" dirty="0">
                <a:latin typeface="Times New Roman"/>
                <a:cs typeface="Times New Roman"/>
              </a:rPr>
              <a:t>Solutions:</a:t>
            </a:r>
          </a:p>
          <a:p>
            <a:pPr algn="just"/>
            <a:endParaRPr lang="en-US" sz="1400" dirty="0">
              <a:latin typeface="Times New Roman"/>
              <a:cs typeface="Times New Roman"/>
            </a:endParaRPr>
          </a:p>
          <a:p>
            <a:r>
              <a:rPr lang="en-IN" sz="1400" b="1" dirty="0"/>
              <a:t>Frame Overhead</a:t>
            </a:r>
          </a:p>
          <a:p>
            <a:endParaRPr lang="en-IN" sz="1400" b="1" dirty="0"/>
          </a:p>
          <a:p>
            <a:r>
              <a:rPr lang="en-IN" sz="1400" dirty="0"/>
              <a:t>Useful data = </a:t>
            </a:r>
            <a:r>
              <a:rPr lang="en-IN" sz="1400" b="1" dirty="0"/>
              <a:t>80 MB = 80,000,000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Frame size = </a:t>
            </a:r>
            <a:r>
              <a:rPr lang="en-IN" sz="1400" b="1" dirty="0"/>
              <a:t>1600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Useful data per frame = </a:t>
            </a:r>
            <a:r>
              <a:rPr lang="en-IN" sz="1400" b="1" dirty="0"/>
              <a:t>1600 − 80 = 1520 bytes</a:t>
            </a:r>
            <a:r>
              <a:rPr lang="en-IN" sz="1400" dirty="0"/>
              <a:t> </a:t>
            </a:r>
          </a:p>
          <a:p>
            <a:r>
              <a:rPr lang="en-IN" sz="1400" dirty="0"/>
              <a:t>Frames = </a:t>
            </a:r>
            <a:r>
              <a:rPr lang="en-IN" sz="1400" b="1" dirty="0"/>
              <a:t>⌈80,000,000 ÷ 1520⌉ = 52,632</a:t>
            </a:r>
            <a:r>
              <a:rPr lang="en-IN" sz="1400" dirty="0"/>
              <a:t> </a:t>
            </a:r>
          </a:p>
          <a:p>
            <a:r>
              <a:rPr lang="en-IN" sz="1400" dirty="0"/>
              <a:t>Total overhead = </a:t>
            </a:r>
            <a:r>
              <a:rPr lang="en-IN" sz="1400" b="1" dirty="0"/>
              <a:t>52,632 × 80 = 4,210,560 bytes</a:t>
            </a:r>
            <a:r>
              <a:rPr lang="en-IN" sz="1400" dirty="0"/>
              <a:t> </a:t>
            </a:r>
          </a:p>
          <a:p>
            <a:r>
              <a:rPr lang="en-IN" sz="1400" dirty="0"/>
              <a:t>Efficiency = (1520 ÷ 1600) × 100 = </a:t>
            </a:r>
            <a:r>
              <a:rPr lang="en-IN" sz="1400" b="1" dirty="0"/>
              <a:t>95%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Protocol overhead reduces bandwidth available for actual data but is necessary for addressing, error detection, and reliable communication.</a:t>
            </a:r>
          </a:p>
          <a:p>
            <a:pPr algn="just"/>
            <a:endParaRPr lang="en-US" sz="1400" dirty="0">
              <a:latin typeface="Times New Roman"/>
              <a:cs typeface="Times New Roman"/>
            </a:endParaRPr>
          </a:p>
          <a:p>
            <a:pPr algn="just"/>
            <a:endParaRPr lang="en-US" sz="1400" dirty="0">
              <a:latin typeface="Times New Roman"/>
              <a:cs typeface="Times New Roman"/>
            </a:endParaRPr>
          </a:p>
          <a:p>
            <a:endParaRPr lang="en-IN" sz="1400" dirty="0"/>
          </a:p>
          <a:p>
            <a:pPr marL="635" marR="5080" algn="just">
              <a:lnSpc>
                <a:spcPct val="143700"/>
              </a:lnSpc>
              <a:spcBef>
                <a:spcPts val="5"/>
              </a:spcBef>
              <a:buSzPct val="92857"/>
              <a:tabLst>
                <a:tab pos="161290" algn="l"/>
              </a:tabLst>
            </a:pPr>
            <a:endParaRPr lang="en-US" sz="1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572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DFA01-EFEF-80AF-65A0-8C916B958DFD}"/>
              </a:ext>
            </a:extLst>
          </p:cNvPr>
          <p:cNvSpPr txBox="1"/>
          <p:nvPr/>
        </p:nvSpPr>
        <p:spPr>
          <a:xfrm>
            <a:off x="425450" y="393700"/>
            <a:ext cx="6705600" cy="595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43700"/>
              </a:lnSpc>
            </a:pPr>
            <a:r>
              <a:rPr lang="en-US" sz="1400" b="1" dirty="0">
                <a:latin typeface="Arial"/>
                <a:cs typeface="Arial"/>
              </a:rPr>
              <a:t>10.</a:t>
            </a:r>
            <a:r>
              <a:rPr lang="en-US" sz="1400" dirty="0">
                <a:latin typeface="Times New Roman"/>
                <a:cs typeface="Times New Roman"/>
              </a:rPr>
              <a:t>A hospital transfers a patient's medical record of </a:t>
            </a:r>
            <a:r>
              <a:rPr lang="en-US" sz="1400" b="1" dirty="0">
                <a:latin typeface="Times New Roman"/>
                <a:cs typeface="Times New Roman"/>
              </a:rPr>
              <a:t>240 MB </a:t>
            </a:r>
            <a:r>
              <a:rPr lang="en-US" sz="1400" dirty="0">
                <a:latin typeface="Times New Roman"/>
                <a:cs typeface="Times New Roman"/>
              </a:rPr>
              <a:t>through an </a:t>
            </a:r>
            <a:r>
              <a:rPr lang="en-US" sz="1400" spc="-20" dirty="0">
                <a:latin typeface="Times New Roman"/>
                <a:cs typeface="Times New Roman"/>
              </a:rPr>
              <a:t>IoT-</a:t>
            </a:r>
            <a:r>
              <a:rPr lang="en-US" sz="1400" spc="-10" dirty="0">
                <a:latin typeface="Times New Roman"/>
                <a:cs typeface="Times New Roman"/>
              </a:rPr>
              <a:t>enabled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healthcare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network.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Presentation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compresses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data</a:t>
            </a:r>
            <a:r>
              <a:rPr lang="en-US" sz="1400" spc="-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by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latin typeface="Times New Roman"/>
                <a:cs typeface="Times New Roman"/>
              </a:rPr>
              <a:t>30%</a:t>
            </a:r>
            <a:r>
              <a:rPr lang="en-US" sz="1400" spc="-20" dirty="0">
                <a:latin typeface="Times New Roman"/>
                <a:cs typeface="Times New Roman"/>
              </a:rPr>
              <a:t>,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Transport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divides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compressed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into</a:t>
            </a:r>
            <a:r>
              <a:rPr lang="en-US" sz="1400" spc="95" dirty="0"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latin typeface="Times New Roman"/>
                <a:cs typeface="Times New Roman"/>
              </a:rPr>
              <a:t>1400-</a:t>
            </a:r>
            <a:r>
              <a:rPr lang="en-US" sz="1400" b="1" dirty="0">
                <a:latin typeface="Times New Roman"/>
                <a:cs typeface="Times New Roman"/>
              </a:rPr>
              <a:t>byte</a:t>
            </a:r>
            <a:r>
              <a:rPr lang="en-US" sz="1400" b="1" spc="60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segments</a:t>
            </a:r>
            <a:r>
              <a:rPr lang="en-US" sz="1400" dirty="0">
                <a:latin typeface="Times New Roman"/>
                <a:cs typeface="Times New Roman"/>
              </a:rPr>
              <a:t>,</a:t>
            </a:r>
            <a:r>
              <a:rPr lang="en-US" sz="1400" spc="60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and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18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1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Link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</a:t>
            </a:r>
            <a:r>
              <a:rPr lang="en-US" sz="1400" spc="1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adds</a:t>
            </a:r>
            <a:r>
              <a:rPr lang="en-US" sz="1400" spc="215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60</a:t>
            </a:r>
            <a:r>
              <a:rPr lang="en-US" sz="1400" b="1" spc="204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latin typeface="Times New Roman"/>
                <a:cs typeface="Times New Roman"/>
              </a:rPr>
              <a:t>bytes</a:t>
            </a:r>
            <a:r>
              <a:rPr lang="en-US" sz="1400" b="1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1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overhead</a:t>
            </a:r>
            <a:r>
              <a:rPr lang="en-US" sz="1400" spc="19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19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each</a:t>
            </a:r>
            <a:r>
              <a:rPr lang="en-US" sz="1400" spc="204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frame.</a:t>
            </a:r>
            <a:r>
              <a:rPr lang="en-US" sz="1400" spc="20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Calculate</a:t>
            </a:r>
            <a:r>
              <a:rPr lang="en-US" sz="1400" spc="190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the </a:t>
            </a:r>
            <a:r>
              <a:rPr lang="en-US" sz="1400" dirty="0">
                <a:latin typeface="Times New Roman"/>
                <a:cs typeface="Times New Roman"/>
              </a:rPr>
              <a:t>compressed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file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size,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number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segments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transmitted,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total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protocol </a:t>
            </a:r>
            <a:r>
              <a:rPr lang="en-US" sz="1400" dirty="0">
                <a:latin typeface="Times New Roman"/>
                <a:cs typeface="Times New Roman"/>
              </a:rPr>
              <a:t>overhead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introduced,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final</a:t>
            </a:r>
            <a:r>
              <a:rPr lang="en-US" sz="1400" spc="-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amount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of</a:t>
            </a:r>
            <a:r>
              <a:rPr lang="en-US" sz="1400" spc="-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transmitted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across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the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Physical </a:t>
            </a:r>
            <a:r>
              <a:rPr lang="en-US" sz="1400" dirty="0">
                <a:latin typeface="Times New Roman"/>
                <a:cs typeface="Times New Roman"/>
              </a:rPr>
              <a:t>Layer.</a:t>
            </a:r>
            <a:r>
              <a:rPr lang="en-US" sz="1400" spc="2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Explain</a:t>
            </a:r>
            <a:r>
              <a:rPr lang="en-US" sz="1400" spc="2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how</a:t>
            </a:r>
            <a:r>
              <a:rPr lang="en-US" sz="1400" spc="2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multiple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OSI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layers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work</a:t>
            </a:r>
            <a:r>
              <a:rPr lang="en-US" sz="1400" spc="2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together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</a:t>
            </a:r>
            <a:r>
              <a:rPr lang="en-US" sz="1400" spc="25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ensure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secure</a:t>
            </a:r>
            <a:r>
              <a:rPr lang="en-US" sz="1400" spc="245" dirty="0">
                <a:latin typeface="Times New Roman"/>
                <a:cs typeface="Times New Roman"/>
              </a:rPr>
              <a:t> </a:t>
            </a:r>
            <a:r>
              <a:rPr lang="en-US" sz="1400" spc="-25" dirty="0">
                <a:latin typeface="Times New Roman"/>
                <a:cs typeface="Times New Roman"/>
              </a:rPr>
              <a:t>and </a:t>
            </a:r>
            <a:r>
              <a:rPr lang="en-US" sz="1400" dirty="0">
                <a:latin typeface="Times New Roman"/>
                <a:cs typeface="Times New Roman"/>
              </a:rPr>
              <a:t>reliable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communication.</a:t>
            </a:r>
          </a:p>
          <a:p>
            <a:pPr marL="12700" marR="5080" algn="just">
              <a:lnSpc>
                <a:spcPct val="143700"/>
              </a:lnSpc>
            </a:pPr>
            <a:r>
              <a:rPr lang="en-US" sz="1400" spc="-10" dirty="0">
                <a:latin typeface="Times New Roman"/>
                <a:cs typeface="Times New Roman"/>
              </a:rPr>
              <a:t>Solution:</a:t>
            </a:r>
          </a:p>
          <a:p>
            <a:pPr marL="12700" marR="5080" algn="just">
              <a:lnSpc>
                <a:spcPct val="143700"/>
              </a:lnSpc>
            </a:pPr>
            <a:endParaRPr lang="en-US" sz="1400" spc="-10" dirty="0">
              <a:latin typeface="Times New Roman"/>
              <a:cs typeface="Times New Roman"/>
            </a:endParaRPr>
          </a:p>
          <a:p>
            <a:r>
              <a:rPr lang="en-IN" sz="1400" b="1" dirty="0"/>
              <a:t>Hospital IoT Network</a:t>
            </a:r>
          </a:p>
          <a:p>
            <a:endParaRPr lang="en-IN" sz="1400" b="1" dirty="0"/>
          </a:p>
          <a:p>
            <a:r>
              <a:rPr lang="en-IN" sz="1400" dirty="0"/>
              <a:t>Original file = </a:t>
            </a:r>
            <a:r>
              <a:rPr lang="en-IN" sz="1400" b="1" dirty="0"/>
              <a:t>240 MB</a:t>
            </a:r>
            <a:r>
              <a:rPr lang="en-IN" sz="1400" dirty="0"/>
              <a:t> </a:t>
            </a:r>
          </a:p>
          <a:p>
            <a:r>
              <a:rPr lang="en-IN" sz="1400" dirty="0"/>
              <a:t>Compression = </a:t>
            </a:r>
            <a:r>
              <a:rPr lang="en-IN" sz="1400" b="1" dirty="0"/>
              <a:t>30%</a:t>
            </a:r>
            <a:r>
              <a:rPr lang="en-IN" sz="1400" dirty="0"/>
              <a:t> </a:t>
            </a:r>
          </a:p>
          <a:p>
            <a:r>
              <a:rPr lang="en-IN" sz="1400" dirty="0"/>
              <a:t>Compressed size = </a:t>
            </a:r>
            <a:r>
              <a:rPr lang="en-IN" sz="1400" b="1" dirty="0"/>
              <a:t>168 MB = 168,000,000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Segment size = </a:t>
            </a:r>
            <a:r>
              <a:rPr lang="en-IN" sz="1400" b="1" dirty="0"/>
              <a:t>1400 bytes</a:t>
            </a:r>
            <a:r>
              <a:rPr lang="en-IN" sz="1400" dirty="0"/>
              <a:t> </a:t>
            </a:r>
          </a:p>
          <a:p>
            <a:r>
              <a:rPr lang="en-IN" sz="1400" dirty="0"/>
              <a:t>Segments = </a:t>
            </a:r>
            <a:r>
              <a:rPr lang="en-IN" sz="1400" b="1" dirty="0"/>
              <a:t>168,000,000 ÷ 1400 = 120,000</a:t>
            </a:r>
            <a:r>
              <a:rPr lang="en-IN" sz="1400" dirty="0"/>
              <a:t> </a:t>
            </a:r>
          </a:p>
          <a:p>
            <a:r>
              <a:rPr lang="en-IN" sz="1400" dirty="0"/>
              <a:t>Overhead = </a:t>
            </a:r>
            <a:r>
              <a:rPr lang="en-IN" sz="1400" b="1" dirty="0"/>
              <a:t>120,000 × 60 = 7,200,000 bytes (7.2 MB)</a:t>
            </a:r>
            <a:r>
              <a:rPr lang="en-IN" sz="1400" dirty="0"/>
              <a:t> </a:t>
            </a:r>
          </a:p>
          <a:p>
            <a:r>
              <a:rPr lang="en-IN" sz="1400" dirty="0"/>
              <a:t>Final transmitted data = </a:t>
            </a:r>
            <a:r>
              <a:rPr lang="en-IN" sz="1400" b="1" dirty="0"/>
              <a:t>168 + 7.2 = 175.2 MB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r>
              <a:rPr lang="en-IN" sz="1400" b="1" dirty="0"/>
              <a:t>Explanation:</a:t>
            </a:r>
            <a:r>
              <a:rPr lang="en-IN" sz="1400" dirty="0"/>
              <a:t> The Presentation Layer compresses data, the Transport Layer segments it, the Data Link Layer adds frame overhead, and the Physical Layer transmits the data securely and reliably.</a:t>
            </a:r>
          </a:p>
          <a:p>
            <a:pPr marL="12700" marR="5080" algn="just">
              <a:lnSpc>
                <a:spcPct val="143700"/>
              </a:lnSpc>
            </a:pPr>
            <a:endParaRPr lang="en-US" sz="1400" spc="-1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652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7850" y="589128"/>
            <a:ext cx="2227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RUBRICS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CALCULATION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682877"/>
              </p:ext>
            </p:extLst>
          </p:nvPr>
        </p:nvGraphicFramePr>
        <p:xfrm>
          <a:off x="577850" y="1384300"/>
          <a:ext cx="5571868" cy="816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20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Criteria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4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87985" marR="104775" indent="-279400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Weightag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182880" indent="48260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Exemplary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87655" marR="282575" indent="7620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Proficient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11454" marR="205104" indent="69850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Developing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marR="248285" indent="28575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Level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Beginning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 marR="86360" indent="16510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Understandin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Concepts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25%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69215" algn="ctr">
                        <a:lnSpc>
                          <a:spcPct val="959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Demonstrates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thorough, accurate understandin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concepts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 marR="66040" indent="-1270" algn="ctr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Good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understanding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minor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gaps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100330" indent="-635" algn="ctr">
                        <a:lnSpc>
                          <a:spcPct val="959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Basic understanding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some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misconception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81915" indent="-635" algn="ctr">
                        <a:lnSpc>
                          <a:spcPct val="9590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Poor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understanding;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major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misconception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6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Explanation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25%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64769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Detailed,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well-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explained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answers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relevant examples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127635" indent="635" algn="ctr">
                        <a:lnSpc>
                          <a:spcPts val="1380"/>
                        </a:lnSpc>
                        <a:spcBef>
                          <a:spcPts val="74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Clear explanation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adequate details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0975" marR="176530" indent="-1905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Limited explanation;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lacks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depth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 marR="66040" indent="-131445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Poor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unclear explanation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47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Application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20%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83820" indent="1270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Effectively applies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strong analytical ability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2875" marR="140335" indent="1270" algn="ctr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Applies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minor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errors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65405" indent="-2540" algn="ctr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Limited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weak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analysis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9220" marR="104775" algn="ctr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application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incorrect analysis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8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Organization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15%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104775" indent="317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Well-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structured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answers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logical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flow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92710" indent="-635" algn="ctr">
                        <a:lnSpc>
                          <a:spcPts val="1380"/>
                        </a:lnSpc>
                        <a:spcBef>
                          <a:spcPts val="74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Organized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minor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issues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flow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75565" indent="635" algn="ctr">
                        <a:lnSpc>
                          <a:spcPts val="1380"/>
                        </a:lnSpc>
                        <a:spcBef>
                          <a:spcPts val="74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12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structure,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lacks clarity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50495" indent="635" algn="ctr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Poor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organization, incoherent answers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8055" y="911301"/>
          <a:ext cx="6692264" cy="191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9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9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188595" indent="228600">
                        <a:lnSpc>
                          <a:spcPts val="138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coherence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10%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104775" indent="635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Completely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accurate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covers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all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required points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9079" marR="66675" indent="-186690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Mostly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accurate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minor omissions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9220" marR="102870" indent="-1270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Partially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missing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points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1765" marR="147320" indent="1905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Incorrect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answers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major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gaps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Clarity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5%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70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 marR="124460" indent="2413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Clear,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neat, professional presentation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 marR="104139" algn="ctr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Understandabl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minor issues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100330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clarity, readability issues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 marR="10350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Poorly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written,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to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understand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1696</Words>
  <Application>Microsoft Office PowerPoint</Application>
  <PresentationFormat>Custom</PresentationFormat>
  <Paragraphs>226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Jesu Jayarin</dc:creator>
  <cp:lastModifiedBy>Monika M</cp:lastModifiedBy>
  <cp:revision>1</cp:revision>
  <dcterms:created xsi:type="dcterms:W3CDTF">2026-07-16T13:48:52Z</dcterms:created>
  <dcterms:modified xsi:type="dcterms:W3CDTF">2026-07-16T14:20:52Z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Creator">
    <vt:lpwstr>Microsoft® Word 2019</vt:lpwstr>
  </property>
  <property fmtid="{D5CDD505-2E9C-101B-9397-08002B2CF9AE}" pid="5" name="LastSaved">
    <vt:filetime>2026-07-16T00:00:00Z</vt:filetime>
  </property>
  <property fmtid="{D5CDD505-2E9C-101B-9397-08002B2CF9AE}" pid="6" name="Producer">
    <vt:lpwstr>Microsoft® Word 2019</vt:lpwstr>
  </property>
</Properties>
</file>